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 to 0:30. Name, title, and one sentence: I compile an extended lambda calculus into pure lambda terms, run those terms by beta reduction, and decode the answers. Do not start on encodings yet.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0:30 to 1:30. Land the point that the compiler is compositional. LOOP compiles without running. If I computed factorial in Python and emitted the numeral 24, the answer would look right and still fail the assignment.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1:30 to 3:00. Say the binding rules in one breath. Name the two examples you will come back to: 2 - 5 is 0, and false and LOOP is false without running LOOP.</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3:00 to 4:15. Budget boundaries: I at budget 0 is a value in 0 steps. I I at budget 0 is exhausted. I I at budget 1 finishes in 1 step. A lambda whose body still has a redex is a value, which is why decoding is a separate step.</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4:15 to 5:15. The design decision to say out loud: one visitor evaluates both languages. The target classes accept the same three visit methods as the source var, lambda, and application. A test stubs all ten source-only methods to fail and still runs a compiled 2 + 3. Another test stubs the evaluator and still compiles LOOP and factorial. church.py is named that way because Python already has a module called encodings.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5:15 to 6:30. The reducer does not recognize these patterns. Python only counts the spine afterwards. Church zero is 0 as a number and false as a boolean. If asked about markers: an identity marker let NUM(2) pass as a boolean, so the markers take three arguments.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6:30 to 7:45. Walk n = 2: (0,0), then (0,1), then (1,2). The first component is 1. For zero the step never runs, so pred 0 is 0. All of this is beta reduction. There is no Python max anywhere. m &lt;= n is iszero (m - 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7:45 to 8:45. Sentence to hit: Z is what makes recursion a value. Tests also name a source function g and a parameter v, the same names Z uses inside, and they still work, because Z is closed.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8:45 to 10:45. Slow down here. If both branches were ordinary arguments, LOOP would run even when it is not chosen. The thunk makes the branch a value. if true then 1 else LOOP returns 1 in 3 execution steps. (lam x. 0) LOOP hits the 200 budget, because call-by-value evaluates the argument. The unused branch is still compiled, so a negative literal there is a compile error. It is compiled but never reduced.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10:45 to 11:45. Read the term from the inside: TRUE applied to two thunks, then to the identity. TRUE picks k_1, the right operand, which is FALSE. That is short-circuit and: when the left side is true, the answer is the right side. This is the saved file demo-out/08.lam.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11:45 to 13:45. Read the source once. Execution stops at a lambda, and the multiplications still under it are forced by observation, which has its own budget. That is why there are two counts. Optionally switch to the terminal and run python MySolution/demo.py, then scroll to entry 12.</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13:45 to 15:00. Do not read every row. Point at three: 2 + 3 * 4 is 14, so multiplication happened inside the addition. if true then 1 else LOOP is 1, while (lam x. 0) LOOP exhausts. Factorial is 24. Budgets: 20,000 execution and 5,000 observation for terminating programs, 200 for the two diverging ones. The demo ends with 14 of 14.</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15:00 to 16:15. Do not read test names. Name two that surprised you: stubbing the ten source-only methods, and NUM(2) read as a boolean, which caught the identity-marker bug. End on: the tests support the claim but do not prove it.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16:15 to 17:15. Say each gain and each cost. These are why the arithmetic in the output is real reduction.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17:15 to 17:45. Then stop. Closing line: the interesting constraint was not getting 24, it was getting 24 without the reducer knowing what a number is. Thank them.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1155680" cy="731520"/>
          </a:xfrm>
          <a:prstGeom prst="rect">
            <a:avLst/>
          </a:prstGeom>
          <a:noFill/>
        </p:spPr>
        <p:txBody>
          <a:bodyPr wrap="none">
            <a:spAutoFit/>
          </a:bodyPr>
          <a:lstStyle/>
          <a:p>
            <a:pPr>
              <a:defRPr sz="3200" b="1">
                <a:solidFill>
                  <a:srgbClr val="1B3A4B"/>
                </a:solidFill>
                <a:latin typeface="Calibri"/>
              </a:defRPr>
            </a:pPr>
            <a:r>
              <a:t>Compiling extended LAMBDA</a:t>
            </a:r>
          </a:p>
        </p:txBody>
      </p:sp>
      <p:sp>
        <p:nvSpPr>
          <p:cNvPr id="4" name="TextBox 3"/>
          <p:cNvSpPr txBox="1"/>
          <p:nvPr/>
        </p:nvSpPr>
        <p:spPr>
          <a:xfrm>
            <a:off x="502920" y="6419088"/>
            <a:ext cx="11155680" cy="274320"/>
          </a:xfrm>
          <a:prstGeom prst="rect">
            <a:avLst/>
          </a:prstGeom>
          <a:noFill/>
        </p:spPr>
        <p:txBody>
          <a:bodyPr wrap="none">
            <a:spAutoFit/>
          </a:bodyPr>
          <a:lstStyle/>
          <a:p>
            <a:pPr>
              <a:defRPr sz="1200">
                <a:solidFill>
                  <a:srgbClr val="4A5A64"/>
                </a:solidFill>
                <a:latin typeface="Calibri"/>
              </a:defRPr>
            </a:pPr>
            <a:r>
              <a:t>CS413 Midterm 1  ·  Anay Sharma  ·  1</a:t>
            </a:r>
          </a:p>
        </p:txBody>
      </p:sp>
      <p:sp>
        <p:nvSpPr>
          <p:cNvPr id="5" name="TextBox 4"/>
          <p:cNvSpPr txBox="1"/>
          <p:nvPr/>
        </p:nvSpPr>
        <p:spPr>
          <a:xfrm>
            <a:off x="548640" y="1828800"/>
            <a:ext cx="11064240" cy="5029200"/>
          </a:xfrm>
          <a:prstGeom prst="rect">
            <a:avLst/>
          </a:prstGeom>
          <a:noFill/>
        </p:spPr>
        <p:txBody>
          <a:bodyPr wrap="square">
            <a:spAutoFit/>
          </a:bodyPr>
          <a:lstStyle/>
          <a:p>
            <a:pPr>
              <a:spcAft>
                <a:spcPts val="800"/>
              </a:spcAft>
              <a:defRPr sz="2200">
                <a:solidFill>
                  <a:srgbClr val="1F1F1F"/>
                </a:solidFill>
                <a:latin typeface="Calibri"/>
              </a:defRPr>
            </a:pPr>
            <a:r>
              <a:t>Into Church's pure lambda calculus</a:t>
            </a:r>
          </a:p>
          <a:p>
            <a:pPr>
              <a:spcAft>
                <a:spcPts val="800"/>
              </a:spcAft>
              <a:defRPr sz="2200">
                <a:solidFill>
                  <a:srgbClr val="1F1F1F"/>
                </a:solidFill>
                <a:latin typeface="Calibri"/>
              </a:defRPr>
            </a:pPr>
            <a:r>
              <a:t>Anay Sharma  ·  CS413, Fall 2026  ·  Midterm 1</a:t>
            </a:r>
          </a:p>
          <a:p>
            <a:pPr>
              <a:spcAft>
                <a:spcPts val="800"/>
              </a:spcAft>
              <a:defRPr sz="2200">
                <a:solidFill>
                  <a:srgbClr val="1F1F1F"/>
                </a:solidFill>
                <a:latin typeface="Calibri"/>
              </a:defRPr>
            </a:pPr>
            <a:r>
              <a:t>Source ASTs in, pure lambda terms out</a:t>
            </a:r>
          </a:p>
          <a:p>
            <a:pPr>
              <a:spcAft>
                <a:spcPts val="800"/>
              </a:spcAft>
              <a:defRPr sz="2200">
                <a:solidFill>
                  <a:srgbClr val="1F1F1F"/>
                </a:solidFill>
                <a:latin typeface="Calibri"/>
              </a:defRPr>
            </a:pPr>
            <a:r>
              <a:t>Then beta-reduce the terms and decode the answers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1155680" cy="731520"/>
          </a:xfrm>
          <a:prstGeom prst="rect">
            <a:avLst/>
          </a:prstGeom>
          <a:noFill/>
        </p:spPr>
        <p:txBody>
          <a:bodyPr wrap="none">
            <a:spAutoFit/>
          </a:bodyPr>
          <a:lstStyle/>
          <a:p>
            <a:pPr>
              <a:defRPr sz="3200" b="1">
                <a:solidFill>
                  <a:srgbClr val="1B3A4B"/>
                </a:solidFill>
                <a:latin typeface="Calibri"/>
              </a:defRPr>
            </a:pPr>
            <a:r>
              <a:t>The job</a:t>
            </a:r>
          </a:p>
        </p:txBody>
      </p:sp>
      <p:sp>
        <p:nvSpPr>
          <p:cNvPr id="4" name="TextBox 3"/>
          <p:cNvSpPr txBox="1"/>
          <p:nvPr/>
        </p:nvSpPr>
        <p:spPr>
          <a:xfrm>
            <a:off x="502920" y="6419088"/>
            <a:ext cx="11155680" cy="274320"/>
          </a:xfrm>
          <a:prstGeom prst="rect">
            <a:avLst/>
          </a:prstGeom>
          <a:noFill/>
        </p:spPr>
        <p:txBody>
          <a:bodyPr wrap="none">
            <a:spAutoFit/>
          </a:bodyPr>
          <a:lstStyle/>
          <a:p>
            <a:pPr>
              <a:defRPr sz="1200">
                <a:solidFill>
                  <a:srgbClr val="4A5A64"/>
                </a:solidFill>
                <a:latin typeface="Calibri"/>
              </a:defRPr>
            </a:pPr>
            <a:r>
              <a:t>CS413 Midterm 1  ·  Anay Sharma  ·  2</a:t>
            </a:r>
          </a:p>
        </p:txBody>
      </p:sp>
      <p:sp>
        <p:nvSpPr>
          <p:cNvPr id="5" name="TextBox 4"/>
          <p:cNvSpPr txBox="1"/>
          <p:nvPr/>
        </p:nvSpPr>
        <p:spPr>
          <a:xfrm>
            <a:off x="548640" y="1188720"/>
            <a:ext cx="11064240" cy="5029200"/>
          </a:xfrm>
          <a:prstGeom prst="rect">
            <a:avLst/>
          </a:prstGeom>
          <a:noFill/>
        </p:spPr>
        <p:txBody>
          <a:bodyPr wrap="square">
            <a:spAutoFit/>
          </a:bodyPr>
          <a:lstStyle/>
          <a:p>
            <a:pPr>
              <a:spcAft>
                <a:spcPts val="800"/>
              </a:spcAft>
              <a:defRPr sz="2200">
                <a:solidFill>
                  <a:srgbClr val="1F1F1F"/>
                </a:solidFill>
                <a:latin typeface="Calibri"/>
              </a:defRPr>
            </a:pPr>
            <a:r>
              <a:t>Translate numbers, booleans, arithmetic, if, let, pairs, and recursion</a:t>
            </a:r>
          </a:p>
          <a:p>
            <a:pPr>
              <a:spcAft>
                <a:spcPts val="800"/>
              </a:spcAft>
              <a:defRPr sz="2200">
                <a:solidFill>
                  <a:srgbClr val="1F1F1F"/>
                </a:solidFill>
                <a:latin typeface="Calibri"/>
              </a:defRPr>
            </a:pPr>
            <a:r>
              <a:t>Output only variables, single-argument lambdas, and applications</a:t>
            </a:r>
          </a:p>
          <a:p>
            <a:pPr>
              <a:spcAft>
                <a:spcPts val="800"/>
              </a:spcAft>
              <a:defRPr sz="2200">
                <a:solidFill>
                  <a:srgbClr val="1F1F1F"/>
                </a:solidFill>
                <a:latin typeface="Calibri"/>
              </a:defRPr>
            </a:pPr>
            <a:r>
              <a:t>Compile the program. Do not run it and encode the answer</a:t>
            </a:r>
          </a:p>
          <a:p>
            <a:pPr>
              <a:spcAft>
                <a:spcPts val="800"/>
              </a:spcAft>
              <a:defRPr sz="2200">
                <a:solidFill>
                  <a:srgbClr val="1F1F1F"/>
                </a:solidFill>
                <a:latin typeface="Calibri"/>
              </a:defRPr>
            </a:pPr>
            <a:r>
              <a:t>One call-by-value evaluator for source ASTs and target terms</a:t>
            </a:r>
          </a:p>
          <a:p>
            <a:pPr>
              <a:spcAft>
                <a:spcPts val="800"/>
              </a:spcAft>
              <a:defRPr sz="2200">
                <a:solidFill>
                  <a:srgbClr val="1F1F1F"/>
                </a:solidFill>
                <a:latin typeface="Calibri"/>
              </a:defRPr>
            </a:pPr>
            <a:r>
              <a:t>Show that decoded target results match the source results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1155680" cy="731520"/>
          </a:xfrm>
          <a:prstGeom prst="rect">
            <a:avLst/>
          </a:prstGeom>
          <a:noFill/>
        </p:spPr>
        <p:txBody>
          <a:bodyPr wrap="none">
            <a:spAutoFit/>
          </a:bodyPr>
          <a:lstStyle/>
          <a:p>
            <a:pPr>
              <a:defRPr sz="3200" b="1">
                <a:solidFill>
                  <a:srgbClr val="1B3A4B"/>
                </a:solidFill>
                <a:latin typeface="Calibri"/>
              </a:defRPr>
            </a:pPr>
            <a:r>
              <a:t>Source language</a:t>
            </a:r>
          </a:p>
        </p:txBody>
      </p:sp>
      <p:sp>
        <p:nvSpPr>
          <p:cNvPr id="4" name="TextBox 3"/>
          <p:cNvSpPr txBox="1"/>
          <p:nvPr/>
        </p:nvSpPr>
        <p:spPr>
          <a:xfrm>
            <a:off x="502920" y="6419088"/>
            <a:ext cx="11155680" cy="274320"/>
          </a:xfrm>
          <a:prstGeom prst="rect">
            <a:avLst/>
          </a:prstGeom>
          <a:noFill/>
        </p:spPr>
        <p:txBody>
          <a:bodyPr wrap="none">
            <a:spAutoFit/>
          </a:bodyPr>
          <a:lstStyle/>
          <a:p>
            <a:pPr>
              <a:defRPr sz="1200">
                <a:solidFill>
                  <a:srgbClr val="4A5A64"/>
                </a:solidFill>
                <a:latin typeface="Calibri"/>
              </a:defRPr>
            </a:pPr>
            <a:r>
              <a:t>CS413 Midterm 1  ·  Anay Sharma  ·  3</a:t>
            </a:r>
          </a:p>
        </p:txBody>
      </p:sp>
      <p:sp>
        <p:nvSpPr>
          <p:cNvPr id="5" name="TextBox 4"/>
          <p:cNvSpPr txBox="1"/>
          <p:nvPr/>
        </p:nvSpPr>
        <p:spPr>
          <a:xfrm>
            <a:off x="548640" y="1188720"/>
            <a:ext cx="11064240" cy="5029200"/>
          </a:xfrm>
          <a:prstGeom prst="rect">
            <a:avLst/>
          </a:prstGeom>
          <a:noFill/>
        </p:spPr>
        <p:txBody>
          <a:bodyPr wrap="square">
            <a:spAutoFit/>
          </a:bodyPr>
          <a:lstStyle/>
          <a:p>
            <a:pPr>
              <a:spcAft>
                <a:spcPts val="800"/>
              </a:spcAft>
              <a:defRPr sz="2200">
                <a:solidFill>
                  <a:srgbClr val="1F1F1F"/>
                </a:solidFill>
                <a:latin typeface="Calibri"/>
              </a:defRPr>
            </a:pPr>
            <a:r>
              <a:t>The Assignment 5 AST: int, bool, var, lam, app, if, let, pair, fst, snd, fix</a:t>
            </a:r>
          </a:p>
          <a:p>
            <a:pPr>
              <a:spcAft>
                <a:spcPts val="800"/>
              </a:spcAft>
              <a:defRPr sz="2200">
                <a:solidFill>
                  <a:srgbClr val="1F1F1F"/>
                </a:solidFill>
                <a:latin typeface="Calibri"/>
              </a:defRPr>
            </a:pPr>
            <a:r>
              <a:t>Operators: +  -  *  &lt;  &lt;=  &gt;  &gt;=  ==  !=  and  or  not</a:t>
            </a:r>
          </a:p>
          <a:p>
            <a:pPr>
              <a:spcAft>
                <a:spcPts val="800"/>
              </a:spcAft>
              <a:defRPr sz="2200">
                <a:solidFill>
                  <a:srgbClr val="1F1F1F"/>
                </a:solidFill>
                <a:latin typeface="Calibri"/>
              </a:defRPr>
            </a:pPr>
            <a:r>
              <a:t>Subtraction is truncated: 2 - 5 is 0</a:t>
            </a:r>
          </a:p>
          <a:p>
            <a:pPr>
              <a:spcAft>
                <a:spcPts val="800"/>
              </a:spcAft>
              <a:defRPr sz="2200">
                <a:solidFill>
                  <a:srgbClr val="1F1F1F"/>
                </a:solidFill>
                <a:latin typeface="Calibri"/>
              </a:defRPr>
            </a:pPr>
            <a:r>
              <a:t>if tests a boolean. and and or short-circuit left to right</a:t>
            </a:r>
          </a:p>
          <a:p>
            <a:pPr>
              <a:spcAft>
                <a:spcPts val="800"/>
              </a:spcAft>
              <a:defRPr sz="2200">
                <a:solidFill>
                  <a:srgbClr val="1F1F1F"/>
                </a:solidFill>
                <a:latin typeface="Calibri"/>
              </a:defRPr>
            </a:pPr>
            <a:r>
              <a:t>let binds only in its body. fix binds both names; if they match, the parameter wins</a:t>
            </a:r>
          </a:p>
          <a:p>
            <a:pPr>
              <a:spcAft>
                <a:spcPts val="800"/>
              </a:spcAft>
              <a:defRPr sz="2200">
                <a:solidFill>
                  <a:srgbClr val="1F1F1F"/>
                </a:solidFill>
                <a:latin typeface="Calibri"/>
              </a:defRPr>
            </a:pPr>
            <a:r>
              <a:t>A negative literal or unknown operator is a compile error, even in dead code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1155680" cy="731520"/>
          </a:xfrm>
          <a:prstGeom prst="rect">
            <a:avLst/>
          </a:prstGeom>
          <a:noFill/>
        </p:spPr>
        <p:txBody>
          <a:bodyPr wrap="none">
            <a:spAutoFit/>
          </a:bodyPr>
          <a:lstStyle/>
          <a:p>
            <a:pPr>
              <a:defRPr sz="3200" b="1">
                <a:solidFill>
                  <a:srgbClr val="1B3A4B"/>
                </a:solidFill>
                <a:latin typeface="Calibri"/>
              </a:defRPr>
            </a:pPr>
            <a:r>
              <a:t>Target language and reduction</a:t>
            </a:r>
          </a:p>
        </p:txBody>
      </p:sp>
      <p:sp>
        <p:nvSpPr>
          <p:cNvPr id="4" name="TextBox 3"/>
          <p:cNvSpPr txBox="1"/>
          <p:nvPr/>
        </p:nvSpPr>
        <p:spPr>
          <a:xfrm>
            <a:off x="502920" y="6419088"/>
            <a:ext cx="11155680" cy="274320"/>
          </a:xfrm>
          <a:prstGeom prst="rect">
            <a:avLst/>
          </a:prstGeom>
          <a:noFill/>
        </p:spPr>
        <p:txBody>
          <a:bodyPr wrap="none">
            <a:spAutoFit/>
          </a:bodyPr>
          <a:lstStyle/>
          <a:p>
            <a:pPr>
              <a:defRPr sz="1200">
                <a:solidFill>
                  <a:srgbClr val="4A5A64"/>
                </a:solidFill>
                <a:latin typeface="Calibri"/>
              </a:defRPr>
            </a:pPr>
            <a:r>
              <a:t>CS413 Midterm 1  ·  Anay Sharma  ·  4</a:t>
            </a:r>
          </a:p>
        </p:txBody>
      </p:sp>
      <p:sp>
        <p:nvSpPr>
          <p:cNvPr id="5" name="TextBox 4"/>
          <p:cNvSpPr txBox="1"/>
          <p:nvPr/>
        </p:nvSpPr>
        <p:spPr>
          <a:xfrm>
            <a:off x="548640" y="1188720"/>
            <a:ext cx="11064240" cy="5029200"/>
          </a:xfrm>
          <a:prstGeom prst="rect">
            <a:avLst/>
          </a:prstGeom>
          <a:noFill/>
        </p:spPr>
        <p:txBody>
          <a:bodyPr wrap="square">
            <a:spAutoFit/>
          </a:bodyPr>
          <a:lstStyle/>
          <a:p>
            <a:pPr>
              <a:spcAft>
                <a:spcPts val="800"/>
              </a:spcAft>
              <a:defRPr sz="2200">
                <a:solidFill>
                  <a:srgbClr val="1F1F1F"/>
                </a:solidFill>
                <a:latin typeface="Calibri"/>
              </a:defRPr>
            </a:pPr>
            <a:r>
              <a:t>Term = Var(x) | Lam(x, body) | App(fn, arg)</a:t>
            </a:r>
          </a:p>
          <a:p>
            <a:pPr>
              <a:spcAft>
                <a:spcPts val="800"/>
              </a:spcAft>
              <a:defRPr sz="2200">
                <a:solidFill>
                  <a:srgbClr val="1F1F1F"/>
                </a:solidFill>
                <a:latin typeface="Calibri"/>
              </a:defRPr>
            </a:pPr>
            <a:r>
              <a:t>Printed as x, (lam x. body), (fn arg)</a:t>
            </a:r>
          </a:p>
          <a:p>
            <a:pPr>
              <a:spcAft>
                <a:spcPts val="800"/>
              </a:spcAft>
              <a:defRPr sz="2200">
                <a:solidFill>
                  <a:srgbClr val="1F1F1F"/>
                </a:solidFill>
                <a:latin typeface="Calibri"/>
              </a:defRPr>
            </a:pPr>
            <a:r>
              <a:t>Weak call-by-value: function, then argument, then substitute</a:t>
            </a:r>
          </a:p>
          <a:p>
            <a:pPr>
              <a:spcAft>
                <a:spcPts val="800"/>
              </a:spcAft>
              <a:defRPr sz="2200">
                <a:solidFill>
                  <a:srgbClr val="1F1F1F"/>
                </a:solidFill>
                <a:latin typeface="Calibri"/>
              </a:defRPr>
            </a:pPr>
            <a:r>
              <a:t>(lam x. body) v  →  body[x := v], only when v is a lambda</a:t>
            </a:r>
          </a:p>
          <a:p>
            <a:pPr>
              <a:spcAft>
                <a:spcPts val="800"/>
              </a:spcAft>
              <a:defRPr sz="2200">
                <a:solidFill>
                  <a:srgbClr val="1F1F1F"/>
                </a:solidFill>
                <a:latin typeface="Calibri"/>
              </a:defRPr>
            </a:pPr>
            <a:r>
              <a:t>A lambda is finished. Nothing reduces under it</a:t>
            </a:r>
          </a:p>
          <a:p>
            <a:pPr>
              <a:spcAft>
                <a:spcPts val="800"/>
              </a:spcAft>
              <a:defRPr sz="2200">
                <a:solidFill>
                  <a:srgbClr val="1F1F1F"/>
                </a:solidFill>
                <a:latin typeface="Calibri"/>
              </a:defRPr>
            </a:pPr>
            <a:r>
              <a:t>A budget counts beta steps. Running out is exhaustion, not a proof of divergence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1155680" cy="731520"/>
          </a:xfrm>
          <a:prstGeom prst="rect">
            <a:avLst/>
          </a:prstGeom>
          <a:noFill/>
        </p:spPr>
        <p:txBody>
          <a:bodyPr wrap="none">
            <a:spAutoFit/>
          </a:bodyPr>
          <a:lstStyle/>
          <a:p>
            <a:pPr>
              <a:defRPr sz="3200" b="1">
                <a:solidFill>
                  <a:srgbClr val="1B3A4B"/>
                </a:solidFill>
                <a:latin typeface="Calibri"/>
              </a:defRPr>
            </a:pPr>
            <a:r>
              <a:t>Architecture</a:t>
            </a:r>
          </a:p>
        </p:txBody>
      </p:sp>
      <p:sp>
        <p:nvSpPr>
          <p:cNvPr id="4" name="TextBox 3"/>
          <p:cNvSpPr txBox="1"/>
          <p:nvPr/>
        </p:nvSpPr>
        <p:spPr>
          <a:xfrm>
            <a:off x="502920" y="6419088"/>
            <a:ext cx="11155680" cy="274320"/>
          </a:xfrm>
          <a:prstGeom prst="rect">
            <a:avLst/>
          </a:prstGeom>
          <a:noFill/>
        </p:spPr>
        <p:txBody>
          <a:bodyPr wrap="none">
            <a:spAutoFit/>
          </a:bodyPr>
          <a:lstStyle/>
          <a:p>
            <a:pPr>
              <a:defRPr sz="1200">
                <a:solidFill>
                  <a:srgbClr val="4A5A64"/>
                </a:solidFill>
                <a:latin typeface="Calibri"/>
              </a:defRPr>
            </a:pPr>
            <a:r>
              <a:t>CS413 Midterm 1  ·  Anay Sharma  ·  5</a:t>
            </a:r>
          </a:p>
        </p:txBody>
      </p:sp>
      <p:sp>
        <p:nvSpPr>
          <p:cNvPr id="5" name="TextBox 4"/>
          <p:cNvSpPr txBox="1"/>
          <p:nvPr/>
        </p:nvSpPr>
        <p:spPr>
          <a:xfrm>
            <a:off x="548640" y="1188720"/>
            <a:ext cx="11064240" cy="5029200"/>
          </a:xfrm>
          <a:prstGeom prst="rect">
            <a:avLst/>
          </a:prstGeom>
          <a:noFill/>
        </p:spPr>
        <p:txBody>
          <a:bodyPr wrap="square">
            <a:spAutoFit/>
          </a:bodyPr>
          <a:lstStyle/>
          <a:p>
            <a:pPr>
              <a:spcAft>
                <a:spcPts val="800"/>
              </a:spcAft>
              <a:defRPr sz="2200">
                <a:solidFill>
                  <a:srgbClr val="1F1F1F"/>
                </a:solidFill>
                <a:latin typeface="Calibri"/>
              </a:defRPr>
            </a:pPr>
            <a:r>
              <a:t>target.py — terms, printer, capture-avoiding substitution</a:t>
            </a:r>
          </a:p>
          <a:p>
            <a:pPr>
              <a:spcAft>
                <a:spcPts val="800"/>
              </a:spcAft>
              <a:defRPr sz="2200">
                <a:solidFill>
                  <a:srgbClr val="1F1F1F"/>
                </a:solidFill>
                <a:latin typeface="Calibri"/>
              </a:defRPr>
            </a:pPr>
            <a:r>
              <a:t>church.py — closed encodings, expanded into pure terms</a:t>
            </a:r>
          </a:p>
          <a:p>
            <a:pPr>
              <a:spcAft>
                <a:spcPts val="800"/>
              </a:spcAft>
              <a:defRPr sz="2200">
                <a:solidFill>
                  <a:srgbClr val="1F1F1F"/>
                </a:solidFill>
                <a:latin typeface="Calibri"/>
              </a:defRPr>
            </a:pPr>
            <a:r>
              <a:t>compile.py — CompileVisitor. Never imports or calls the evaluator</a:t>
            </a:r>
          </a:p>
          <a:p>
            <a:pPr>
              <a:spcAft>
                <a:spcPts val="800"/>
              </a:spcAft>
              <a:defRPr sz="2200">
                <a:solidFill>
                  <a:srgbClr val="1F1F1F"/>
                </a:solidFill>
                <a:latin typeface="Calibri"/>
              </a:defRPr>
            </a:pPr>
            <a:r>
              <a:t>evaluate.py — one EvaluateVisitor for both languages. Never imports the compiler</a:t>
            </a:r>
          </a:p>
          <a:p>
            <a:pPr lvl="1">
              <a:spcAft>
                <a:spcPts val="800"/>
              </a:spcAft>
              <a:defRPr sz="2000">
                <a:solidFill>
                  <a:srgbClr val="4A5A64"/>
                </a:solidFill>
                <a:latin typeface="Calibri"/>
              </a:defRPr>
            </a:pPr>
            <a:r>
              <a:t>Var, Lam, App share visit_var, visit_lam, visit_app with the source nodes</a:t>
            </a:r>
          </a:p>
          <a:p>
            <a:pPr>
              <a:spcAft>
                <a:spcPts val="800"/>
              </a:spcAft>
              <a:defRPr sz="2200">
                <a:solidFill>
                  <a:srgbClr val="1F1F1F"/>
                </a:solidFill>
                <a:latin typeface="Calibri"/>
              </a:defRPr>
            </a:pPr>
            <a:r>
              <a:t>observe.py — numbers, booleans, pairs, with their own step budget</a:t>
            </a:r>
          </a:p>
          <a:p>
            <a:pPr>
              <a:spcAft>
                <a:spcPts val="800"/>
              </a:spcAft>
              <a:defRPr sz="2200">
                <a:solidFill>
                  <a:srgbClr val="1F1F1F"/>
                </a:solidFill>
                <a:latin typeface="Calibri"/>
              </a:defRPr>
            </a:pPr>
            <a:r>
              <a:t>demo.py — the fourteen programs, saved to demo-out/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1155680" cy="731520"/>
          </a:xfrm>
          <a:prstGeom prst="rect">
            <a:avLst/>
          </a:prstGeom>
          <a:noFill/>
        </p:spPr>
        <p:txBody>
          <a:bodyPr wrap="none">
            <a:spAutoFit/>
          </a:bodyPr>
          <a:lstStyle/>
          <a:p>
            <a:pPr>
              <a:defRPr sz="3200" b="1">
                <a:solidFill>
                  <a:srgbClr val="1B3A4B"/>
                </a:solidFill>
                <a:latin typeface="Calibri"/>
              </a:defRPr>
            </a:pPr>
            <a:r>
              <a:t>Church data</a:t>
            </a:r>
          </a:p>
        </p:txBody>
      </p:sp>
      <p:sp>
        <p:nvSpPr>
          <p:cNvPr id="4" name="TextBox 3"/>
          <p:cNvSpPr txBox="1"/>
          <p:nvPr/>
        </p:nvSpPr>
        <p:spPr>
          <a:xfrm>
            <a:off x="502920" y="6419088"/>
            <a:ext cx="11155680" cy="274320"/>
          </a:xfrm>
          <a:prstGeom prst="rect">
            <a:avLst/>
          </a:prstGeom>
          <a:noFill/>
        </p:spPr>
        <p:txBody>
          <a:bodyPr wrap="none">
            <a:spAutoFit/>
          </a:bodyPr>
          <a:lstStyle/>
          <a:p>
            <a:pPr>
              <a:defRPr sz="1200">
                <a:solidFill>
                  <a:srgbClr val="4A5A64"/>
                </a:solidFill>
                <a:latin typeface="Calibri"/>
              </a:defRPr>
            </a:pPr>
            <a:r>
              <a:t>CS413 Midterm 1  ·  Anay Sharma  ·  6</a:t>
            </a:r>
          </a:p>
        </p:txBody>
      </p:sp>
      <p:sp>
        <p:nvSpPr>
          <p:cNvPr id="5" name="TextBox 4"/>
          <p:cNvSpPr txBox="1"/>
          <p:nvPr/>
        </p:nvSpPr>
        <p:spPr>
          <a:xfrm>
            <a:off x="548640" y="1188720"/>
            <a:ext cx="11064240" cy="5029200"/>
          </a:xfrm>
          <a:prstGeom prst="rect">
            <a:avLst/>
          </a:prstGeom>
          <a:noFill/>
        </p:spPr>
        <p:txBody>
          <a:bodyPr wrap="square">
            <a:spAutoFit/>
          </a:bodyPr>
          <a:lstStyle/>
          <a:p>
            <a:pPr>
              <a:spcAft>
                <a:spcPts val="800"/>
              </a:spcAft>
              <a:defRPr sz="2200">
                <a:solidFill>
                  <a:srgbClr val="1F1F1F"/>
                </a:solidFill>
                <a:latin typeface="Calibri"/>
              </a:defRPr>
            </a:pPr>
            <a:r>
              <a:t>TRUE = lam t. lam f. t          FALSE = lam t. lam f. f</a:t>
            </a:r>
          </a:p>
          <a:p>
            <a:pPr>
              <a:spcAft>
                <a:spcPts val="800"/>
              </a:spcAft>
              <a:defRPr sz="2200">
                <a:solidFill>
                  <a:srgbClr val="1F1F1F"/>
                </a:solidFill>
                <a:latin typeface="Calibri"/>
              </a:defRPr>
            </a:pPr>
            <a:r>
              <a:t>NUM(n) = lam s. lam z. s applied n times to z</a:t>
            </a:r>
          </a:p>
          <a:p>
            <a:pPr>
              <a:spcAft>
                <a:spcPts val="800"/>
              </a:spcAft>
              <a:defRPr sz="2200">
                <a:solidFill>
                  <a:srgbClr val="1F1F1F"/>
                </a:solidFill>
                <a:latin typeface="Calibri"/>
              </a:defRPr>
            </a:pPr>
            <a:r>
              <a:t>PAIR = lam a. lam b. lam p. p a b</a:t>
            </a:r>
          </a:p>
          <a:p>
            <a:pPr>
              <a:spcAft>
                <a:spcPts val="800"/>
              </a:spcAft>
              <a:defRPr sz="2200">
                <a:solidFill>
                  <a:srgbClr val="1F1F1F"/>
                </a:solidFill>
                <a:latin typeface="Calibri"/>
              </a:defRPr>
            </a:pPr>
            <a:r>
              <a:t>NUM(0) and FALSE are the same lambda, so the decoder is told the kind</a:t>
            </a:r>
          </a:p>
          <a:p>
            <a:pPr>
              <a:spcAft>
                <a:spcPts val="800"/>
              </a:spcAft>
              <a:defRPr sz="2200">
                <a:solidFill>
                  <a:srgbClr val="1F1F1F"/>
                </a:solidFill>
                <a:latin typeface="Calibri"/>
              </a:defRPr>
            </a:pPr>
            <a:r>
              <a:t>Numbers: run v STEP BASE, then count the spine</a:t>
            </a:r>
          </a:p>
          <a:p>
            <a:pPr>
              <a:spcAft>
                <a:spcPts val="800"/>
              </a:spcAft>
              <a:defRPr sz="2200">
                <a:solidFill>
                  <a:srgbClr val="1F1F1F"/>
                </a:solidFill>
                <a:latin typeface="Calibri"/>
              </a:defRPr>
            </a:pPr>
            <a:r>
              <a:t>Booleans: run v with two closed markers and see which comes back</a:t>
            </a:r>
          </a:p>
          <a:p>
            <a:pPr>
              <a:spcAft>
                <a:spcPts val="800"/>
              </a:spcAft>
              <a:defRPr sz="2200">
                <a:solidFill>
                  <a:srgbClr val="1F1F1F"/>
                </a:solidFill>
                <a:latin typeface="Calibri"/>
              </a:defRPr>
            </a:pPr>
            <a:r>
              <a:t>Bad shape is malformed. Running out of steps is exhaustion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1155680" cy="731520"/>
          </a:xfrm>
          <a:prstGeom prst="rect">
            <a:avLst/>
          </a:prstGeom>
          <a:noFill/>
        </p:spPr>
        <p:txBody>
          <a:bodyPr wrap="none">
            <a:spAutoFit/>
          </a:bodyPr>
          <a:lstStyle/>
          <a:p>
            <a:pPr>
              <a:defRPr sz="3200" b="1">
                <a:solidFill>
                  <a:srgbClr val="1B3A4B"/>
                </a:solidFill>
                <a:latin typeface="Calibri"/>
              </a:defRPr>
            </a:pPr>
            <a:r>
              <a:t>Predecessor of zero is zero</a:t>
            </a:r>
          </a:p>
        </p:txBody>
      </p:sp>
      <p:sp>
        <p:nvSpPr>
          <p:cNvPr id="4" name="TextBox 3"/>
          <p:cNvSpPr txBox="1"/>
          <p:nvPr/>
        </p:nvSpPr>
        <p:spPr>
          <a:xfrm>
            <a:off x="502920" y="6419088"/>
            <a:ext cx="11155680" cy="274320"/>
          </a:xfrm>
          <a:prstGeom prst="rect">
            <a:avLst/>
          </a:prstGeom>
          <a:noFill/>
        </p:spPr>
        <p:txBody>
          <a:bodyPr wrap="none">
            <a:spAutoFit/>
          </a:bodyPr>
          <a:lstStyle/>
          <a:p>
            <a:pPr>
              <a:defRPr sz="1200">
                <a:solidFill>
                  <a:srgbClr val="4A5A64"/>
                </a:solidFill>
                <a:latin typeface="Calibri"/>
              </a:defRPr>
            </a:pPr>
            <a:r>
              <a:t>CS413 Midterm 1  ·  Anay Sharma  ·  7</a:t>
            </a:r>
          </a:p>
        </p:txBody>
      </p:sp>
      <p:sp>
        <p:nvSpPr>
          <p:cNvPr id="5" name="TextBox 4"/>
          <p:cNvSpPr txBox="1"/>
          <p:nvPr/>
        </p:nvSpPr>
        <p:spPr>
          <a:xfrm>
            <a:off x="548640" y="1188720"/>
            <a:ext cx="11064240" cy="5029200"/>
          </a:xfrm>
          <a:prstGeom prst="rect">
            <a:avLst/>
          </a:prstGeom>
          <a:noFill/>
        </p:spPr>
        <p:txBody>
          <a:bodyPr wrap="square">
            <a:spAutoFit/>
          </a:bodyPr>
          <a:lstStyle/>
          <a:p>
            <a:pPr>
              <a:spcAft>
                <a:spcPts val="800"/>
              </a:spcAft>
              <a:defRPr sz="2200">
                <a:solidFill>
                  <a:srgbClr val="1F1F1F"/>
                </a:solidFill>
                <a:latin typeface="Calibri"/>
              </a:defRPr>
            </a:pPr>
            <a:r>
              <a:t>Start from the pair (0, 0)</a:t>
            </a:r>
          </a:p>
          <a:p>
            <a:pPr>
              <a:spcAft>
                <a:spcPts val="800"/>
              </a:spcAft>
              <a:defRPr sz="2200">
                <a:solidFill>
                  <a:srgbClr val="1F1F1F"/>
                </a:solidFill>
                <a:latin typeface="Calibri"/>
              </a:defRPr>
            </a:pPr>
            <a:r>
              <a:t>Each step: (previous, current) becomes (current, current + 1)</a:t>
            </a:r>
          </a:p>
          <a:p>
            <a:pPr>
              <a:spcAft>
                <a:spcPts val="800"/>
              </a:spcAft>
              <a:defRPr sz="2200">
                <a:solidFill>
                  <a:srgbClr val="1F1F1F"/>
                </a:solidFill>
                <a:latin typeface="Calibri"/>
              </a:defRPr>
            </a:pPr>
            <a:r>
              <a:t>After n steps the first component is n - 1</a:t>
            </a:r>
          </a:p>
          <a:p>
            <a:pPr>
              <a:spcAft>
                <a:spcPts val="800"/>
              </a:spcAft>
              <a:defRPr sz="2200">
                <a:solidFill>
                  <a:srgbClr val="1F1F1F"/>
                </a:solidFill>
                <a:latin typeface="Calibri"/>
              </a:defRPr>
            </a:pPr>
            <a:r>
              <a:t>Zero steps leave it at 0</a:t>
            </a:r>
          </a:p>
          <a:p>
            <a:pPr>
              <a:spcAft>
                <a:spcPts val="800"/>
              </a:spcAft>
              <a:defRPr sz="2200">
                <a:solidFill>
                  <a:srgbClr val="1F1F1F"/>
                </a:solidFill>
                <a:latin typeface="Calibri"/>
              </a:defRPr>
            </a:pPr>
            <a:r>
              <a:t>Subtraction applies pred as many times as the second number</a:t>
            </a:r>
          </a:p>
          <a:p>
            <a:pPr>
              <a:spcAft>
                <a:spcPts val="800"/>
              </a:spcAft>
              <a:defRPr sz="2200">
                <a:solidFill>
                  <a:srgbClr val="1F1F1F"/>
                </a:solidFill>
                <a:latin typeface="Calibri"/>
              </a:defRPr>
            </a:pPr>
            <a:r>
              <a:t>So 2 - 5 reduces to 0, and every comparison is built on it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1155680" cy="731520"/>
          </a:xfrm>
          <a:prstGeom prst="rect">
            <a:avLst/>
          </a:prstGeom>
          <a:noFill/>
        </p:spPr>
        <p:txBody>
          <a:bodyPr wrap="none">
            <a:spAutoFit/>
          </a:bodyPr>
          <a:lstStyle/>
          <a:p>
            <a:pPr>
              <a:defRPr sz="3200" b="1">
                <a:solidFill>
                  <a:srgbClr val="1B3A4B"/>
                </a:solidFill>
                <a:latin typeface="Calibri"/>
              </a:defRPr>
            </a:pPr>
            <a:r>
              <a:t>Recursion uses Z, not Y</a:t>
            </a:r>
          </a:p>
        </p:txBody>
      </p:sp>
      <p:sp>
        <p:nvSpPr>
          <p:cNvPr id="4" name="TextBox 3"/>
          <p:cNvSpPr txBox="1"/>
          <p:nvPr/>
        </p:nvSpPr>
        <p:spPr>
          <a:xfrm>
            <a:off x="502920" y="6419088"/>
            <a:ext cx="11155680" cy="274320"/>
          </a:xfrm>
          <a:prstGeom prst="rect">
            <a:avLst/>
          </a:prstGeom>
          <a:noFill/>
        </p:spPr>
        <p:txBody>
          <a:bodyPr wrap="none">
            <a:spAutoFit/>
          </a:bodyPr>
          <a:lstStyle/>
          <a:p>
            <a:pPr>
              <a:defRPr sz="1200">
                <a:solidFill>
                  <a:srgbClr val="4A5A64"/>
                </a:solidFill>
                <a:latin typeface="Calibri"/>
              </a:defRPr>
            </a:pPr>
            <a:r>
              <a:t>CS413 Midterm 1  ·  Anay Sharma  ·  8</a:t>
            </a:r>
          </a:p>
        </p:txBody>
      </p:sp>
      <p:sp>
        <p:nvSpPr>
          <p:cNvPr id="5" name="TextBox 4"/>
          <p:cNvSpPr txBox="1"/>
          <p:nvPr/>
        </p:nvSpPr>
        <p:spPr>
          <a:xfrm>
            <a:off x="548640" y="1188720"/>
            <a:ext cx="11064240" cy="5029200"/>
          </a:xfrm>
          <a:prstGeom prst="rect">
            <a:avLst/>
          </a:prstGeom>
          <a:noFill/>
        </p:spPr>
        <p:txBody>
          <a:bodyPr wrap="square">
            <a:spAutoFit/>
          </a:bodyPr>
          <a:lstStyle/>
          <a:p>
            <a:pPr>
              <a:spcAft>
                <a:spcPts val="800"/>
              </a:spcAft>
              <a:defRPr sz="2200">
                <a:solidFill>
                  <a:srgbClr val="1F1F1F"/>
                </a:solidFill>
                <a:latin typeface="Calibri"/>
              </a:defRPr>
            </a:pPr>
            <a:r>
              <a:t>fix f(x). e  compiles to  Z (lam f. lam x. C[e])</a:t>
            </a:r>
          </a:p>
          <a:p>
            <a:pPr>
              <a:spcAft>
                <a:spcPts val="800"/>
              </a:spcAft>
              <a:defRPr sz="2200">
                <a:solidFill>
                  <a:srgbClr val="1F1F1F"/>
                </a:solidFill>
                <a:latin typeface="Calibri"/>
              </a:defRPr>
            </a:pPr>
            <a:r>
              <a:t>Z g reduces to a lambda under call-by-value</a:t>
            </a:r>
          </a:p>
          <a:p>
            <a:pPr>
              <a:spcAft>
                <a:spcPts val="800"/>
              </a:spcAft>
              <a:defRPr sz="2200">
                <a:solidFill>
                  <a:srgbClr val="1F1F1F"/>
                </a:solidFill>
                <a:latin typeface="Calibri"/>
              </a:defRPr>
            </a:pPr>
            <a:r>
              <a:t>The recursive copy waits inside lam v. x x v until it gets an argument</a:t>
            </a:r>
          </a:p>
          <a:p>
            <a:pPr>
              <a:spcAft>
                <a:spcPts val="800"/>
              </a:spcAft>
              <a:defRPr sz="2200">
                <a:solidFill>
                  <a:srgbClr val="1F1F1F"/>
                </a:solidFill>
                <a:latin typeface="Calibri"/>
              </a:defRPr>
            </a:pPr>
            <a:r>
              <a:t>Y keeps unfolding before it is a value, so the budget always runs out</a:t>
            </a:r>
          </a:p>
          <a:p>
            <a:pPr>
              <a:spcAft>
                <a:spcPts val="800"/>
              </a:spcAft>
              <a:defRPr sz="2200">
                <a:solidFill>
                  <a:srgbClr val="1F1F1F"/>
                </a:solidFill>
                <a:latin typeface="Calibri"/>
              </a:defRPr>
            </a:pPr>
            <a:r>
              <a:t>(fix f(f). f) 3 returns 3: the parameter shadows the function name</a:t>
            </a:r>
          </a:p>
        </p:txBody>
      </p:sp>
      <p:sp>
        <p:nvSpPr>
          <p:cNvPr id="6" name="Rectangle 5"/>
          <p:cNvSpPr/>
          <p:nvPr/>
        </p:nvSpPr>
        <p:spPr>
          <a:xfrm>
            <a:off x="548640" y="4937760"/>
            <a:ext cx="11064240" cy="731520"/>
          </a:xfrm>
          <a:prstGeom prst="rect">
            <a:avLst/>
          </a:prstGeom>
          <a:solidFill>
            <a:srgbClr val="F2F4F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800">
                <a:solidFill>
                  <a:srgbClr val="1F1F1F"/>
                </a:solidFill>
                <a:latin typeface="Consolas"/>
              </a:defRPr>
            </a:pPr>
            <a:r>
              <a:t>Z = lam g. (lam x. g (lam v. x x v)) (lam x. g (lam v. x x v))</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1155680" cy="731520"/>
          </a:xfrm>
          <a:prstGeom prst="rect">
            <a:avLst/>
          </a:prstGeom>
          <a:noFill/>
        </p:spPr>
        <p:txBody>
          <a:bodyPr wrap="none">
            <a:spAutoFit/>
          </a:bodyPr>
          <a:lstStyle/>
          <a:p>
            <a:pPr>
              <a:defRPr sz="3200" b="1">
                <a:solidFill>
                  <a:srgbClr val="1B3A4B"/>
                </a:solidFill>
                <a:latin typeface="Calibri"/>
              </a:defRPr>
            </a:pPr>
            <a:r>
              <a:t>Thunks for if, and, or</a:t>
            </a:r>
          </a:p>
        </p:txBody>
      </p:sp>
      <p:sp>
        <p:nvSpPr>
          <p:cNvPr id="4" name="TextBox 3"/>
          <p:cNvSpPr txBox="1"/>
          <p:nvPr/>
        </p:nvSpPr>
        <p:spPr>
          <a:xfrm>
            <a:off x="502920" y="6419088"/>
            <a:ext cx="11155680" cy="274320"/>
          </a:xfrm>
          <a:prstGeom prst="rect">
            <a:avLst/>
          </a:prstGeom>
          <a:noFill/>
        </p:spPr>
        <p:txBody>
          <a:bodyPr wrap="none">
            <a:spAutoFit/>
          </a:bodyPr>
          <a:lstStyle/>
          <a:p>
            <a:pPr>
              <a:defRPr sz="1200">
                <a:solidFill>
                  <a:srgbClr val="4A5A64"/>
                </a:solidFill>
                <a:latin typeface="Calibri"/>
              </a:defRPr>
            </a:pPr>
            <a:r>
              <a:t>CS413 Midterm 1  ·  Anay Sharma  ·  9</a:t>
            </a:r>
          </a:p>
        </p:txBody>
      </p:sp>
      <p:sp>
        <p:nvSpPr>
          <p:cNvPr id="5" name="TextBox 4"/>
          <p:cNvSpPr txBox="1"/>
          <p:nvPr/>
        </p:nvSpPr>
        <p:spPr>
          <a:xfrm>
            <a:off x="548640" y="1188720"/>
            <a:ext cx="11064240" cy="5029200"/>
          </a:xfrm>
          <a:prstGeom prst="rect">
            <a:avLst/>
          </a:prstGeom>
          <a:noFill/>
        </p:spPr>
        <p:txBody>
          <a:bodyPr wrap="square">
            <a:spAutoFit/>
          </a:bodyPr>
          <a:lstStyle/>
          <a:p>
            <a:pPr>
              <a:spcAft>
                <a:spcPts val="800"/>
              </a:spcAft>
              <a:defRPr sz="2200">
                <a:solidFill>
                  <a:srgbClr val="1F1F1F"/>
                </a:solidFill>
                <a:latin typeface="Calibri"/>
              </a:defRPr>
            </a:pPr>
            <a:r>
              <a:t>C[if c then t else f] = (C[c] (lam k_1. C[t]) (lam k_2. C[f])) I</a:t>
            </a:r>
          </a:p>
          <a:p>
            <a:pPr>
              <a:spcAft>
                <a:spcPts val="800"/>
              </a:spcAft>
              <a:defRPr sz="2200">
                <a:solidFill>
                  <a:srgbClr val="1F1F1F"/>
                </a:solidFill>
                <a:latin typeface="Calibri"/>
              </a:defRPr>
            </a:pPr>
            <a:r>
              <a:t>Both branches become lambdas, so call-by-value does not enter them</a:t>
            </a:r>
          </a:p>
          <a:p>
            <a:pPr>
              <a:spcAft>
                <a:spcPts val="800"/>
              </a:spcAft>
              <a:defRPr sz="2200">
                <a:solidFill>
                  <a:srgbClr val="1F1F1F"/>
                </a:solidFill>
                <a:latin typeface="Calibri"/>
              </a:defRPr>
            </a:pPr>
            <a:r>
              <a:t>The boolean picks one thunk; applying it to I runs only that branch</a:t>
            </a:r>
          </a:p>
          <a:p>
            <a:pPr>
              <a:spcAft>
                <a:spcPts val="800"/>
              </a:spcAft>
              <a:defRPr sz="2200">
                <a:solidFill>
                  <a:srgbClr val="1F1F1F"/>
                </a:solidFill>
                <a:latin typeface="Calibri"/>
              </a:defRPr>
            </a:pPr>
            <a:r>
              <a:t>and and or use the same delay</a:t>
            </a:r>
          </a:p>
          <a:p>
            <a:pPr>
              <a:spcAft>
                <a:spcPts val="800"/>
              </a:spcAft>
              <a:defRPr sz="2200">
                <a:solidFill>
                  <a:srgbClr val="1F1F1F"/>
                </a:solidFill>
                <a:latin typeface="Calibri"/>
              </a:defRPr>
            </a:pPr>
            <a:r>
              <a:t>if true then 1 else LOOP gives 1.  (lam x. 0) LOOP exhausts</a:t>
            </a:r>
          </a:p>
          <a:p>
            <a:pPr>
              <a:spcAft>
                <a:spcPts val="800"/>
              </a:spcAft>
              <a:defRPr sz="2200">
                <a:solidFill>
                  <a:srgbClr val="1F1F1F"/>
                </a:solidFill>
                <a:latin typeface="Calibri"/>
              </a:defRPr>
            </a:pPr>
            <a:r>
              <a:t>Thunk binders are k_1, k_2, ... chosen to avoid every name they wrap</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1155680" cy="731520"/>
          </a:xfrm>
          <a:prstGeom prst="rect">
            <a:avLst/>
          </a:prstGeom>
          <a:noFill/>
        </p:spPr>
        <p:txBody>
          <a:bodyPr wrap="none">
            <a:spAutoFit/>
          </a:bodyPr>
          <a:lstStyle/>
          <a:p>
            <a:pPr>
              <a:defRPr sz="3200" b="1">
                <a:solidFill>
                  <a:srgbClr val="1B3A4B"/>
                </a:solidFill>
                <a:latin typeface="Calibri"/>
              </a:defRPr>
            </a:pPr>
            <a:r>
              <a:t>What the compiler emits</a:t>
            </a:r>
          </a:p>
        </p:txBody>
      </p:sp>
      <p:sp>
        <p:nvSpPr>
          <p:cNvPr id="4" name="TextBox 3"/>
          <p:cNvSpPr txBox="1"/>
          <p:nvPr/>
        </p:nvSpPr>
        <p:spPr>
          <a:xfrm>
            <a:off x="502920" y="6419088"/>
            <a:ext cx="11155680" cy="274320"/>
          </a:xfrm>
          <a:prstGeom prst="rect">
            <a:avLst/>
          </a:prstGeom>
          <a:noFill/>
        </p:spPr>
        <p:txBody>
          <a:bodyPr wrap="none">
            <a:spAutoFit/>
          </a:bodyPr>
          <a:lstStyle/>
          <a:p>
            <a:pPr>
              <a:defRPr sz="1200">
                <a:solidFill>
                  <a:srgbClr val="4A5A64"/>
                </a:solidFill>
                <a:latin typeface="Calibri"/>
              </a:defRPr>
            </a:pPr>
            <a:r>
              <a:t>CS413 Midterm 1  ·  Anay Sharma  ·  10</a:t>
            </a:r>
          </a:p>
        </p:txBody>
      </p:sp>
      <p:sp>
        <p:nvSpPr>
          <p:cNvPr id="5" name="TextBox 4"/>
          <p:cNvSpPr txBox="1"/>
          <p:nvPr/>
        </p:nvSpPr>
        <p:spPr>
          <a:xfrm>
            <a:off x="548640" y="1143000"/>
            <a:ext cx="11064240" cy="548640"/>
          </a:xfrm>
          <a:prstGeom prst="rect">
            <a:avLst/>
          </a:prstGeom>
          <a:noFill/>
        </p:spPr>
        <p:txBody>
          <a:bodyPr wrap="square">
            <a:spAutoFit/>
          </a:bodyPr>
          <a:lstStyle/>
          <a:p>
            <a:pPr>
              <a:spcAft>
                <a:spcPts val="800"/>
              </a:spcAft>
              <a:defRPr sz="2200">
                <a:solidFill>
                  <a:srgbClr val="1F1F1F"/>
                </a:solidFill>
                <a:latin typeface="Calibri"/>
              </a:defRPr>
            </a:pPr>
            <a:r>
              <a:t>Source:  true and false</a:t>
            </a:r>
          </a:p>
        </p:txBody>
      </p:sp>
      <p:sp>
        <p:nvSpPr>
          <p:cNvPr id="6" name="Rectangle 5"/>
          <p:cNvSpPr/>
          <p:nvPr/>
        </p:nvSpPr>
        <p:spPr>
          <a:xfrm>
            <a:off x="548640" y="1783080"/>
            <a:ext cx="11064240" cy="2103120"/>
          </a:xfrm>
          <a:prstGeom prst="rect">
            <a:avLst/>
          </a:prstGeom>
          <a:solidFill>
            <a:srgbClr val="F2F4F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000">
                <a:solidFill>
                  <a:srgbClr val="1F1F1F"/>
                </a:solidFill>
                <a:latin typeface="Consolas"/>
              </a:defRPr>
            </a:pPr>
            <a:r>
              <a:t>((((lam t. (lam f. t))</a:t>
            </a:r>
          </a:p>
          <a:p>
            <a:pPr algn="l">
              <a:defRPr sz="2000">
                <a:solidFill>
                  <a:srgbClr val="1F1F1F"/>
                </a:solidFill>
                <a:latin typeface="Consolas"/>
              </a:defRPr>
            </a:pPr>
            <a:r>
              <a:t>    (lam k_1. (lam t. (lam f. f))))</a:t>
            </a:r>
          </a:p>
          <a:p>
            <a:pPr algn="l">
              <a:defRPr sz="2000">
                <a:solidFill>
                  <a:srgbClr val="1F1F1F"/>
                </a:solidFill>
                <a:latin typeface="Consolas"/>
              </a:defRPr>
            </a:pPr>
            <a:r>
              <a:t>    (lam k_2. (lam t. (lam f. f))))</a:t>
            </a:r>
          </a:p>
          <a:p>
            <a:pPr algn="l">
              <a:defRPr sz="2000">
                <a:solidFill>
                  <a:srgbClr val="1F1F1F"/>
                </a:solidFill>
                <a:latin typeface="Consolas"/>
              </a:defRPr>
            </a:pPr>
            <a:r>
              <a:t>  (lam w. w))</a:t>
            </a:r>
          </a:p>
        </p:txBody>
      </p:sp>
      <p:sp>
        <p:nvSpPr>
          <p:cNvPr id="7" name="TextBox 6"/>
          <p:cNvSpPr txBox="1"/>
          <p:nvPr/>
        </p:nvSpPr>
        <p:spPr>
          <a:xfrm>
            <a:off x="548640" y="4114800"/>
            <a:ext cx="11064240" cy="2194560"/>
          </a:xfrm>
          <a:prstGeom prst="rect">
            <a:avLst/>
          </a:prstGeom>
          <a:noFill/>
        </p:spPr>
        <p:txBody>
          <a:bodyPr wrap="square">
            <a:spAutoFit/>
          </a:bodyPr>
          <a:lstStyle/>
          <a:p>
            <a:pPr>
              <a:spcAft>
                <a:spcPts val="800"/>
              </a:spcAft>
              <a:defRPr sz="2200">
                <a:solidFill>
                  <a:srgbClr val="1F1F1F"/>
                </a:solidFill>
                <a:latin typeface="Calibri"/>
              </a:defRPr>
            </a:pPr>
            <a:r>
              <a:t>TRUE chooses the first thunk, k_1, which holds FALSE</a:t>
            </a:r>
          </a:p>
          <a:p>
            <a:pPr>
              <a:spcAft>
                <a:spcPts val="800"/>
              </a:spcAft>
              <a:defRPr sz="2200">
                <a:solidFill>
                  <a:srgbClr val="1F1F1F"/>
                </a:solidFill>
                <a:latin typeface="Calibri"/>
              </a:defRPr>
            </a:pPr>
            <a:r>
              <a:t>lam w. w forces it. 3 execution steps, decoded false</a:t>
            </a:r>
          </a:p>
          <a:p>
            <a:pPr>
              <a:spcAft>
                <a:spcPts val="800"/>
              </a:spcAft>
              <a:defRPr sz="2200">
                <a:solidFill>
                  <a:srgbClr val="1F1F1F"/>
                </a:solidFill>
                <a:latin typeface="Calibri"/>
              </a:defRPr>
            </a:pPr>
            <a:r>
              <a:t>Every name here is expanded. No TRUE, no AND, no source nodes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1155680" cy="731520"/>
          </a:xfrm>
          <a:prstGeom prst="rect">
            <a:avLst/>
          </a:prstGeom>
          <a:noFill/>
        </p:spPr>
        <p:txBody>
          <a:bodyPr wrap="none">
            <a:spAutoFit/>
          </a:bodyPr>
          <a:lstStyle/>
          <a:p>
            <a:pPr>
              <a:defRPr sz="3200" b="1">
                <a:solidFill>
                  <a:srgbClr val="1B3A4B"/>
                </a:solidFill>
                <a:latin typeface="Calibri"/>
              </a:defRPr>
            </a:pPr>
            <a:r>
              <a:t>Factorial of 4</a:t>
            </a:r>
          </a:p>
        </p:txBody>
      </p:sp>
      <p:sp>
        <p:nvSpPr>
          <p:cNvPr id="4" name="TextBox 3"/>
          <p:cNvSpPr txBox="1"/>
          <p:nvPr/>
        </p:nvSpPr>
        <p:spPr>
          <a:xfrm>
            <a:off x="502920" y="6419088"/>
            <a:ext cx="11155680" cy="274320"/>
          </a:xfrm>
          <a:prstGeom prst="rect">
            <a:avLst/>
          </a:prstGeom>
          <a:noFill/>
        </p:spPr>
        <p:txBody>
          <a:bodyPr wrap="none">
            <a:spAutoFit/>
          </a:bodyPr>
          <a:lstStyle/>
          <a:p>
            <a:pPr>
              <a:defRPr sz="1200">
                <a:solidFill>
                  <a:srgbClr val="4A5A64"/>
                </a:solidFill>
                <a:latin typeface="Calibri"/>
              </a:defRPr>
            </a:pPr>
            <a:r>
              <a:t>CS413 Midterm 1  ·  Anay Sharma  ·  11</a:t>
            </a:r>
          </a:p>
        </p:txBody>
      </p:sp>
      <p:sp>
        <p:nvSpPr>
          <p:cNvPr id="5" name="TextBox 4"/>
          <p:cNvSpPr txBox="1"/>
          <p:nvPr/>
        </p:nvSpPr>
        <p:spPr>
          <a:xfrm>
            <a:off x="548640" y="1188720"/>
            <a:ext cx="11064240" cy="5029200"/>
          </a:xfrm>
          <a:prstGeom prst="rect">
            <a:avLst/>
          </a:prstGeom>
          <a:noFill/>
        </p:spPr>
        <p:txBody>
          <a:bodyPr wrap="square">
            <a:spAutoFit/>
          </a:bodyPr>
          <a:lstStyle/>
          <a:p>
            <a:pPr>
              <a:spcAft>
                <a:spcPts val="800"/>
              </a:spcAft>
              <a:defRPr sz="2200">
                <a:solidFill>
                  <a:srgbClr val="1F1F1F"/>
                </a:solidFill>
                <a:latin typeface="Calibri"/>
              </a:defRPr>
            </a:pPr>
            <a:r>
              <a:t>fix fact(n). if n == 0 then 1 else n * fact (n - 1), applied to 4</a:t>
            </a:r>
          </a:p>
          <a:p>
            <a:pPr>
              <a:spcAft>
                <a:spcPts val="800"/>
              </a:spcAft>
              <a:defRPr sz="2200">
                <a:solidFill>
                  <a:srgbClr val="1F1F1F"/>
                </a:solidFill>
                <a:latin typeface="Calibri"/>
              </a:defRPr>
            </a:pPr>
            <a:r>
              <a:t>Compiles without running. Pure term: demo-out/12.lam, 1,557 characters</a:t>
            </a:r>
          </a:p>
          <a:p>
            <a:pPr>
              <a:spcAft>
                <a:spcPts val="800"/>
              </a:spcAft>
              <a:defRPr sz="2200">
                <a:solidFill>
                  <a:srgbClr val="1F1F1F"/>
                </a:solidFill>
                <a:latin typeface="Calibri"/>
              </a:defRPr>
            </a:pPr>
            <a:r>
              <a:t>Execution: 471 beta-value steps, result is a lambda</a:t>
            </a:r>
          </a:p>
          <a:p>
            <a:pPr>
              <a:spcAft>
                <a:spcPts val="800"/>
              </a:spcAft>
              <a:defRPr sz="2200">
                <a:solidFill>
                  <a:srgbClr val="1F1F1F"/>
                </a:solidFill>
                <a:latin typeface="Calibri"/>
              </a:defRPr>
            </a:pPr>
            <a:r>
              <a:t>Observation: 333 beta-value steps, decoded 24</a:t>
            </a:r>
          </a:p>
          <a:p>
            <a:pPr>
              <a:spcAft>
                <a:spcPts val="800"/>
              </a:spcAft>
              <a:defRPr sz="2200">
                <a:solidFill>
                  <a:srgbClr val="1F1F1F"/>
                </a:solidFill>
                <a:latin typeface="Calibri"/>
              </a:defRPr>
            </a:pPr>
            <a:r>
              <a:t>Source side, same evaluator: 24</a:t>
            </a:r>
          </a:p>
          <a:p>
            <a:pPr>
              <a:spcAft>
                <a:spcPts val="800"/>
              </a:spcAft>
              <a:defRPr sz="2200">
                <a:solidFill>
                  <a:srgbClr val="1F1F1F"/>
                </a:solidFill>
                <a:latin typeface="Calibri"/>
              </a:defRPr>
            </a:pPr>
            <a:r>
              <a:t>Fibonacci of 5: 3,080 execution steps, 35 observation steps, decoded 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1155680" cy="731520"/>
          </a:xfrm>
          <a:prstGeom prst="rect">
            <a:avLst/>
          </a:prstGeom>
          <a:noFill/>
        </p:spPr>
        <p:txBody>
          <a:bodyPr wrap="none">
            <a:spAutoFit/>
          </a:bodyPr>
          <a:lstStyle/>
          <a:p>
            <a:pPr>
              <a:defRPr sz="3200" b="1">
                <a:solidFill>
                  <a:srgbClr val="1B3A4B"/>
                </a:solidFill>
                <a:latin typeface="Calibri"/>
              </a:defRPr>
            </a:pPr>
            <a:r>
              <a:t>Results from python MySolution/demo.py</a:t>
            </a:r>
          </a:p>
        </p:txBody>
      </p:sp>
      <p:sp>
        <p:nvSpPr>
          <p:cNvPr id="4" name="TextBox 3"/>
          <p:cNvSpPr txBox="1"/>
          <p:nvPr/>
        </p:nvSpPr>
        <p:spPr>
          <a:xfrm>
            <a:off x="502920" y="6419088"/>
            <a:ext cx="11155680" cy="274320"/>
          </a:xfrm>
          <a:prstGeom prst="rect">
            <a:avLst/>
          </a:prstGeom>
          <a:noFill/>
        </p:spPr>
        <p:txBody>
          <a:bodyPr wrap="none">
            <a:spAutoFit/>
          </a:bodyPr>
          <a:lstStyle/>
          <a:p>
            <a:pPr>
              <a:defRPr sz="1200">
                <a:solidFill>
                  <a:srgbClr val="4A5A64"/>
                </a:solidFill>
                <a:latin typeface="Calibri"/>
              </a:defRPr>
            </a:pPr>
            <a:r>
              <a:t>CS413 Midterm 1  ·  Anay Sharma  ·  12</a:t>
            </a:r>
          </a:p>
        </p:txBody>
      </p:sp>
      <p:graphicFrame>
        <p:nvGraphicFramePr>
          <p:cNvPr id="5" name="Table 4"/>
          <p:cNvGraphicFramePr>
            <a:graphicFrameLocks noGrp="1"/>
          </p:cNvGraphicFramePr>
          <p:nvPr/>
        </p:nvGraphicFramePr>
        <p:xfrm>
          <a:off x="457200" y="1051560"/>
          <a:ext cx="11247118" cy="5120640"/>
        </p:xfrm>
        <a:graphic>
          <a:graphicData uri="http://schemas.openxmlformats.org/drawingml/2006/table">
            <a:tbl>
              <a:tblPr firstRow="1" bandRow="1">
                <a:tableStyleId>{5C22544A-7EE6-4342-B048-85BDC9FD1C3A}</a:tableStyleId>
              </a:tblPr>
              <a:tblGrid>
                <a:gridCol w="4206240"/>
                <a:gridCol w="1645920"/>
                <a:gridCol w="1645920"/>
                <a:gridCol w="1874519"/>
                <a:gridCol w="1874519"/>
              </a:tblGrid>
              <a:tr h="393895">
                <a:tc>
                  <a:txBody>
                    <a:bodyPr/>
                    <a:lstStyle/>
                    <a:p>
                      <a:pPr>
                        <a:defRPr sz="1400" b="1">
                          <a:solidFill>
                            <a:srgbClr val="FFFFFF"/>
                          </a:solidFill>
                          <a:latin typeface="Calibri"/>
                        </a:defRPr>
                      </a:pPr>
                      <a:r>
                        <a:t>Program</a:t>
                      </a:r>
                    </a:p>
                  </a:txBody>
                  <a:tcPr>
                    <a:solidFill>
                      <a:srgbClr val="1B3A4B"/>
                    </a:solidFill>
                  </a:tcPr>
                </a:tc>
                <a:tc>
                  <a:txBody>
                    <a:bodyPr/>
                    <a:lstStyle/>
                    <a:p>
                      <a:pPr>
                        <a:defRPr sz="1400" b="1">
                          <a:solidFill>
                            <a:srgbClr val="FFFFFF"/>
                          </a:solidFill>
                          <a:latin typeface="Calibri"/>
                        </a:defRPr>
                      </a:pPr>
                      <a:r>
                        <a:t>Exec steps</a:t>
                      </a:r>
                    </a:p>
                  </a:txBody>
                  <a:tcPr>
                    <a:solidFill>
                      <a:srgbClr val="1B3A4B"/>
                    </a:solidFill>
                  </a:tcPr>
                </a:tc>
                <a:tc>
                  <a:txBody>
                    <a:bodyPr/>
                    <a:lstStyle/>
                    <a:p>
                      <a:pPr>
                        <a:defRPr sz="1400" b="1">
                          <a:solidFill>
                            <a:srgbClr val="FFFFFF"/>
                          </a:solidFill>
                          <a:latin typeface="Calibri"/>
                        </a:defRPr>
                      </a:pPr>
                      <a:r>
                        <a:t>Obs steps</a:t>
                      </a:r>
                    </a:p>
                  </a:txBody>
                  <a:tcPr>
                    <a:solidFill>
                      <a:srgbClr val="1B3A4B"/>
                    </a:solidFill>
                  </a:tcPr>
                </a:tc>
                <a:tc>
                  <a:txBody>
                    <a:bodyPr/>
                    <a:lstStyle/>
                    <a:p>
                      <a:pPr>
                        <a:defRPr sz="1400" b="1">
                          <a:solidFill>
                            <a:srgbClr val="FFFFFF"/>
                          </a:solidFill>
                          <a:latin typeface="Calibri"/>
                        </a:defRPr>
                      </a:pPr>
                      <a:r>
                        <a:t>Decoded</a:t>
                      </a:r>
                    </a:p>
                  </a:txBody>
                  <a:tcPr>
                    <a:solidFill>
                      <a:srgbClr val="1B3A4B"/>
                    </a:solidFill>
                  </a:tcPr>
                </a:tc>
                <a:tc>
                  <a:txBody>
                    <a:bodyPr/>
                    <a:lstStyle/>
                    <a:p>
                      <a:pPr>
                        <a:defRPr sz="1400" b="1">
                          <a:solidFill>
                            <a:srgbClr val="FFFFFF"/>
                          </a:solidFill>
                          <a:latin typeface="Calibri"/>
                        </a:defRPr>
                      </a:pPr>
                      <a:r>
                        <a:t>Expected</a:t>
                      </a:r>
                    </a:p>
                  </a:txBody>
                  <a:tcPr>
                    <a:solidFill>
                      <a:srgbClr val="1B3A4B"/>
                    </a:solidFill>
                  </a:tcPr>
                </a:tc>
              </a:tr>
              <a:tr h="393895">
                <a:tc>
                  <a:txBody>
                    <a:bodyPr/>
                    <a:lstStyle/>
                    <a:p>
                      <a:pPr>
                        <a:defRPr sz="1400" b="0">
                          <a:solidFill>
                            <a:srgbClr val="1F1F1F"/>
                          </a:solidFill>
                          <a:latin typeface="Calibri"/>
                        </a:defRPr>
                      </a:pPr>
                      <a:r>
                        <a:t>2 + 3 * 4</a:t>
                      </a:r>
                    </a:p>
                  </a:txBody>
                  <a:tcPr/>
                </a:tc>
                <a:tc>
                  <a:txBody>
                    <a:bodyPr/>
                    <a:lstStyle/>
                    <a:p>
                      <a:pPr>
                        <a:defRPr sz="1400" b="0">
                          <a:solidFill>
                            <a:srgbClr val="1F1F1F"/>
                          </a:solidFill>
                          <a:latin typeface="Calibri"/>
                        </a:defRPr>
                      </a:pPr>
                      <a:r>
                        <a:t>4</a:t>
                      </a:r>
                    </a:p>
                  </a:txBody>
                  <a:tcPr/>
                </a:tc>
                <a:tc>
                  <a:txBody>
                    <a:bodyPr/>
                    <a:lstStyle/>
                    <a:p>
                      <a:pPr>
                        <a:defRPr sz="1400" b="0">
                          <a:solidFill>
                            <a:srgbClr val="1F1F1F"/>
                          </a:solidFill>
                          <a:latin typeface="Calibri"/>
                        </a:defRPr>
                      </a:pPr>
                      <a:r>
                        <a:t>26</a:t>
                      </a:r>
                    </a:p>
                  </a:txBody>
                  <a:tcPr/>
                </a:tc>
                <a:tc>
                  <a:txBody>
                    <a:bodyPr/>
                    <a:lstStyle/>
                    <a:p>
                      <a:pPr>
                        <a:defRPr sz="1400" b="0">
                          <a:solidFill>
                            <a:srgbClr val="1F1F1F"/>
                          </a:solidFill>
                          <a:latin typeface="Calibri"/>
                        </a:defRPr>
                      </a:pPr>
                      <a:r>
                        <a:t>14</a:t>
                      </a:r>
                    </a:p>
                  </a:txBody>
                  <a:tcPr/>
                </a:tc>
                <a:tc>
                  <a:txBody>
                    <a:bodyPr/>
                    <a:lstStyle/>
                    <a:p>
                      <a:pPr>
                        <a:defRPr sz="1400" b="0">
                          <a:solidFill>
                            <a:srgbClr val="1F1F1F"/>
                          </a:solidFill>
                          <a:latin typeface="Calibri"/>
                        </a:defRPr>
                      </a:pPr>
                      <a:r>
                        <a:t>14</a:t>
                      </a:r>
                    </a:p>
                  </a:txBody>
                  <a:tcPr/>
                </a:tc>
              </a:tr>
              <a:tr h="393895">
                <a:tc>
                  <a:txBody>
                    <a:bodyPr/>
                    <a:lstStyle/>
                    <a:p>
                      <a:pPr>
                        <a:defRPr sz="1400" b="0">
                          <a:solidFill>
                            <a:srgbClr val="1F1F1F"/>
                          </a:solidFill>
                          <a:latin typeface="Calibri"/>
                        </a:defRPr>
                      </a:pPr>
                      <a:r>
                        <a:t>2 - 5</a:t>
                      </a:r>
                    </a:p>
                  </a:txBody>
                  <a:tcPr/>
                </a:tc>
                <a:tc>
                  <a:txBody>
                    <a:bodyPr/>
                    <a:lstStyle/>
                    <a:p>
                      <a:pPr>
                        <a:defRPr sz="1400" b="0">
                          <a:solidFill>
                            <a:srgbClr val="1F1F1F"/>
                          </a:solidFill>
                          <a:latin typeface="Calibri"/>
                        </a:defRPr>
                      </a:pPr>
                      <a:r>
                        <a:t>87</a:t>
                      </a:r>
                    </a:p>
                  </a:txBody>
                  <a:tcPr/>
                </a:tc>
                <a:tc>
                  <a:txBody>
                    <a:bodyPr/>
                    <a:lstStyle/>
                    <a:p>
                      <a:pPr>
                        <a:defRPr sz="1400" b="0">
                          <a:solidFill>
                            <a:srgbClr val="1F1F1F"/>
                          </a:solidFill>
                          <a:latin typeface="Calibri"/>
                        </a:defRPr>
                      </a:pPr>
                      <a:r>
                        <a:t>2</a:t>
                      </a:r>
                    </a:p>
                  </a:txBody>
                  <a:tcPr/>
                </a:tc>
                <a:tc>
                  <a:txBody>
                    <a:bodyPr/>
                    <a:lstStyle/>
                    <a:p>
                      <a:pPr>
                        <a:defRPr sz="1400" b="0">
                          <a:solidFill>
                            <a:srgbClr val="1F1F1F"/>
                          </a:solidFill>
                          <a:latin typeface="Calibri"/>
                        </a:defRPr>
                      </a:pPr>
                      <a:r>
                        <a:t>0</a:t>
                      </a:r>
                    </a:p>
                  </a:txBody>
                  <a:tcPr/>
                </a:tc>
                <a:tc>
                  <a:txBody>
                    <a:bodyPr/>
                    <a:lstStyle/>
                    <a:p>
                      <a:pPr>
                        <a:defRPr sz="1400" b="0">
                          <a:solidFill>
                            <a:srgbClr val="1F1F1F"/>
                          </a:solidFill>
                          <a:latin typeface="Calibri"/>
                        </a:defRPr>
                      </a:pPr>
                      <a:r>
                        <a:t>0</a:t>
                      </a:r>
                    </a:p>
                  </a:txBody>
                  <a:tcPr/>
                </a:tc>
              </a:tr>
              <a:tr h="393895">
                <a:tc>
                  <a:txBody>
                    <a:bodyPr/>
                    <a:lstStyle/>
                    <a:p>
                      <a:pPr>
                        <a:defRPr sz="1400" b="0">
                          <a:solidFill>
                            <a:srgbClr val="1F1F1F"/>
                          </a:solidFill>
                          <a:latin typeface="Calibri"/>
                        </a:defRPr>
                      </a:pPr>
                      <a:r>
                        <a:t>if 2 &lt;= 3 then 7 else 9</a:t>
                      </a:r>
                    </a:p>
                  </a:txBody>
                  <a:tcPr/>
                </a:tc>
                <a:tc>
                  <a:txBody>
                    <a:bodyPr/>
                    <a:lstStyle/>
                    <a:p>
                      <a:pPr>
                        <a:defRPr sz="1400" b="0">
                          <a:solidFill>
                            <a:srgbClr val="1F1F1F"/>
                          </a:solidFill>
                          <a:latin typeface="Calibri"/>
                        </a:defRPr>
                      </a:pPr>
                      <a:r>
                        <a:t>77</a:t>
                      </a:r>
                    </a:p>
                  </a:txBody>
                  <a:tcPr/>
                </a:tc>
                <a:tc>
                  <a:txBody>
                    <a:bodyPr/>
                    <a:lstStyle/>
                    <a:p>
                      <a:pPr>
                        <a:defRPr sz="1400" b="0">
                          <a:solidFill>
                            <a:srgbClr val="1F1F1F"/>
                          </a:solidFill>
                          <a:latin typeface="Calibri"/>
                        </a:defRPr>
                      </a:pPr>
                      <a:r>
                        <a:t>9</a:t>
                      </a:r>
                    </a:p>
                  </a:txBody>
                  <a:tcPr/>
                </a:tc>
                <a:tc>
                  <a:txBody>
                    <a:bodyPr/>
                    <a:lstStyle/>
                    <a:p>
                      <a:pPr>
                        <a:defRPr sz="1400" b="0">
                          <a:solidFill>
                            <a:srgbClr val="1F1F1F"/>
                          </a:solidFill>
                          <a:latin typeface="Calibri"/>
                        </a:defRPr>
                      </a:pPr>
                      <a:r>
                        <a:t>7</a:t>
                      </a:r>
                    </a:p>
                  </a:txBody>
                  <a:tcPr/>
                </a:tc>
                <a:tc>
                  <a:txBody>
                    <a:bodyPr/>
                    <a:lstStyle/>
                    <a:p>
                      <a:pPr>
                        <a:defRPr sz="1400" b="0">
                          <a:solidFill>
                            <a:srgbClr val="1F1F1F"/>
                          </a:solidFill>
                          <a:latin typeface="Calibri"/>
                        </a:defRPr>
                      </a:pPr>
                      <a:r>
                        <a:t>7</a:t>
                      </a:r>
                    </a:p>
                  </a:txBody>
                  <a:tcPr/>
                </a:tc>
              </a:tr>
              <a:tr h="393895">
                <a:tc>
                  <a:txBody>
                    <a:bodyPr/>
                    <a:lstStyle/>
                    <a:p>
                      <a:pPr>
                        <a:defRPr sz="1400" b="0">
                          <a:solidFill>
                            <a:srgbClr val="1F1F1F"/>
                          </a:solidFill>
                          <a:latin typeface="Calibri"/>
                        </a:defRPr>
                      </a:pPr>
                      <a:r>
                        <a:t>let x = 3 in (lam y. x + y) 4</a:t>
                      </a:r>
                    </a:p>
                  </a:txBody>
                  <a:tcPr/>
                </a:tc>
                <a:tc>
                  <a:txBody>
                    <a:bodyPr/>
                    <a:lstStyle/>
                    <a:p>
                      <a:pPr>
                        <a:defRPr sz="1400" b="0">
                          <a:solidFill>
                            <a:srgbClr val="1F1F1F"/>
                          </a:solidFill>
                          <a:latin typeface="Calibri"/>
                        </a:defRPr>
                      </a:pPr>
                      <a:r>
                        <a:t>4</a:t>
                      </a:r>
                    </a:p>
                  </a:txBody>
                  <a:tcPr/>
                </a:tc>
                <a:tc>
                  <a:txBody>
                    <a:bodyPr/>
                    <a:lstStyle/>
                    <a:p>
                      <a:pPr>
                        <a:defRPr sz="1400" b="0">
                          <a:solidFill>
                            <a:srgbClr val="1F1F1F"/>
                          </a:solidFill>
                          <a:latin typeface="Calibri"/>
                        </a:defRPr>
                      </a:pPr>
                      <a:r>
                        <a:t>13</a:t>
                      </a:r>
                    </a:p>
                  </a:txBody>
                  <a:tcPr/>
                </a:tc>
                <a:tc>
                  <a:txBody>
                    <a:bodyPr/>
                    <a:lstStyle/>
                    <a:p>
                      <a:pPr>
                        <a:defRPr sz="1400" b="0">
                          <a:solidFill>
                            <a:srgbClr val="1F1F1F"/>
                          </a:solidFill>
                          <a:latin typeface="Calibri"/>
                        </a:defRPr>
                      </a:pPr>
                      <a:r>
                        <a:t>7</a:t>
                      </a:r>
                    </a:p>
                  </a:txBody>
                  <a:tcPr/>
                </a:tc>
                <a:tc>
                  <a:txBody>
                    <a:bodyPr/>
                    <a:lstStyle/>
                    <a:p>
                      <a:pPr>
                        <a:defRPr sz="1400" b="0">
                          <a:solidFill>
                            <a:srgbClr val="1F1F1F"/>
                          </a:solidFill>
                          <a:latin typeface="Calibri"/>
                        </a:defRPr>
                      </a:pPr>
                      <a:r>
                        <a:t>7</a:t>
                      </a:r>
                    </a:p>
                  </a:txBody>
                  <a:tcPr/>
                </a:tc>
              </a:tr>
              <a:tr h="393895">
                <a:tc>
                  <a:txBody>
                    <a:bodyPr/>
                    <a:lstStyle/>
                    <a:p>
                      <a:pPr>
                        <a:defRPr sz="1400" b="0">
                          <a:solidFill>
                            <a:srgbClr val="1F1F1F"/>
                          </a:solidFill>
                          <a:latin typeface="Calibri"/>
                        </a:defRPr>
                      </a:pPr>
                      <a:r>
                        <a:t>fst / snd (pair 2 true)</a:t>
                      </a:r>
                    </a:p>
                  </a:txBody>
                  <a:tcPr/>
                </a:tc>
                <a:tc>
                  <a:txBody>
                    <a:bodyPr/>
                    <a:lstStyle/>
                    <a:p>
                      <a:pPr>
                        <a:defRPr sz="1400" b="0">
                          <a:solidFill>
                            <a:srgbClr val="1F1F1F"/>
                          </a:solidFill>
                          <a:latin typeface="Calibri"/>
                        </a:defRPr>
                      </a:pPr>
                      <a:r>
                        <a:t>6 / 6</a:t>
                      </a:r>
                    </a:p>
                  </a:txBody>
                  <a:tcPr/>
                </a:tc>
                <a:tc>
                  <a:txBody>
                    <a:bodyPr/>
                    <a:lstStyle/>
                    <a:p>
                      <a:pPr>
                        <a:defRPr sz="1400" b="0">
                          <a:solidFill>
                            <a:srgbClr val="1F1F1F"/>
                          </a:solidFill>
                          <a:latin typeface="Calibri"/>
                        </a:defRPr>
                      </a:pPr>
                      <a:r>
                        <a:t>4 / 2</a:t>
                      </a:r>
                    </a:p>
                  </a:txBody>
                  <a:tcPr/>
                </a:tc>
                <a:tc>
                  <a:txBody>
                    <a:bodyPr/>
                    <a:lstStyle/>
                    <a:p>
                      <a:pPr>
                        <a:defRPr sz="1400" b="0">
                          <a:solidFill>
                            <a:srgbClr val="1F1F1F"/>
                          </a:solidFill>
                          <a:latin typeface="Calibri"/>
                        </a:defRPr>
                      </a:pPr>
                      <a:r>
                        <a:t>2 / true</a:t>
                      </a:r>
                    </a:p>
                  </a:txBody>
                  <a:tcPr/>
                </a:tc>
                <a:tc>
                  <a:txBody>
                    <a:bodyPr/>
                    <a:lstStyle/>
                    <a:p>
                      <a:pPr>
                        <a:defRPr sz="1400" b="0">
                          <a:solidFill>
                            <a:srgbClr val="1F1F1F"/>
                          </a:solidFill>
                          <a:latin typeface="Calibri"/>
                        </a:defRPr>
                      </a:pPr>
                      <a:r>
                        <a:t>2 / true</a:t>
                      </a:r>
                    </a:p>
                  </a:txBody>
                  <a:tcPr/>
                </a:tc>
              </a:tr>
              <a:tr h="393895">
                <a:tc>
                  <a:txBody>
                    <a:bodyPr/>
                    <a:lstStyle/>
                    <a:p>
                      <a:pPr>
                        <a:defRPr sz="1400" b="0">
                          <a:solidFill>
                            <a:srgbClr val="1F1F1F"/>
                          </a:solidFill>
                          <a:latin typeface="Calibri"/>
                        </a:defRPr>
                      </a:pPr>
                      <a:r>
                        <a:t>(lam f. f 3) (lam x. x + 1)</a:t>
                      </a:r>
                    </a:p>
                  </a:txBody>
                  <a:tcPr/>
                </a:tc>
                <a:tc>
                  <a:txBody>
                    <a:bodyPr/>
                    <a:lstStyle/>
                    <a:p>
                      <a:pPr>
                        <a:defRPr sz="1400" b="0">
                          <a:solidFill>
                            <a:srgbClr val="1F1F1F"/>
                          </a:solidFill>
                          <a:latin typeface="Calibri"/>
                        </a:defRPr>
                      </a:pPr>
                      <a:r>
                        <a:t>4</a:t>
                      </a:r>
                    </a:p>
                  </a:txBody>
                  <a:tcPr/>
                </a:tc>
                <a:tc>
                  <a:txBody>
                    <a:bodyPr/>
                    <a:lstStyle/>
                    <a:p>
                      <a:pPr>
                        <a:defRPr sz="1400" b="0">
                          <a:solidFill>
                            <a:srgbClr val="1F1F1F"/>
                          </a:solidFill>
                          <a:latin typeface="Calibri"/>
                        </a:defRPr>
                      </a:pPr>
                      <a:r>
                        <a:t>10</a:t>
                      </a:r>
                    </a:p>
                  </a:txBody>
                  <a:tcPr/>
                </a:tc>
                <a:tc>
                  <a:txBody>
                    <a:bodyPr/>
                    <a:lstStyle/>
                    <a:p>
                      <a:pPr>
                        <a:defRPr sz="1400" b="0">
                          <a:solidFill>
                            <a:srgbClr val="1F1F1F"/>
                          </a:solidFill>
                          <a:latin typeface="Calibri"/>
                        </a:defRPr>
                      </a:pPr>
                      <a:r>
                        <a:t>4</a:t>
                      </a:r>
                    </a:p>
                  </a:txBody>
                  <a:tcPr/>
                </a:tc>
                <a:tc>
                  <a:txBody>
                    <a:bodyPr/>
                    <a:lstStyle/>
                    <a:p>
                      <a:pPr>
                        <a:defRPr sz="1400" b="0">
                          <a:solidFill>
                            <a:srgbClr val="1F1F1F"/>
                          </a:solidFill>
                          <a:latin typeface="Calibri"/>
                        </a:defRPr>
                      </a:pPr>
                      <a:r>
                        <a:t>4</a:t>
                      </a:r>
                    </a:p>
                  </a:txBody>
                  <a:tcPr/>
                </a:tc>
              </a:tr>
              <a:tr h="393895">
                <a:tc>
                  <a:txBody>
                    <a:bodyPr/>
                    <a:lstStyle/>
                    <a:p>
                      <a:pPr>
                        <a:defRPr sz="1400" b="0">
                          <a:solidFill>
                            <a:srgbClr val="1F1F1F"/>
                          </a:solidFill>
                          <a:latin typeface="Calibri"/>
                        </a:defRPr>
                      </a:pPr>
                      <a:r>
                        <a:t>true and false / false or true</a:t>
                      </a:r>
                    </a:p>
                  </a:txBody>
                  <a:tcPr/>
                </a:tc>
                <a:tc>
                  <a:txBody>
                    <a:bodyPr/>
                    <a:lstStyle/>
                    <a:p>
                      <a:pPr>
                        <a:defRPr sz="1400" b="0">
                          <a:solidFill>
                            <a:srgbClr val="1F1F1F"/>
                          </a:solidFill>
                          <a:latin typeface="Calibri"/>
                        </a:defRPr>
                      </a:pPr>
                      <a:r>
                        <a:t>3 / 3</a:t>
                      </a:r>
                    </a:p>
                  </a:txBody>
                  <a:tcPr/>
                </a:tc>
                <a:tc>
                  <a:txBody>
                    <a:bodyPr/>
                    <a:lstStyle/>
                    <a:p>
                      <a:pPr>
                        <a:defRPr sz="1400" b="0">
                          <a:solidFill>
                            <a:srgbClr val="1F1F1F"/>
                          </a:solidFill>
                          <a:latin typeface="Calibri"/>
                        </a:defRPr>
                      </a:pPr>
                      <a:r>
                        <a:t>2 / 2</a:t>
                      </a:r>
                    </a:p>
                  </a:txBody>
                  <a:tcPr/>
                </a:tc>
                <a:tc>
                  <a:txBody>
                    <a:bodyPr/>
                    <a:lstStyle/>
                    <a:p>
                      <a:pPr>
                        <a:defRPr sz="1400" b="0">
                          <a:solidFill>
                            <a:srgbClr val="1F1F1F"/>
                          </a:solidFill>
                          <a:latin typeface="Calibri"/>
                        </a:defRPr>
                      </a:pPr>
                      <a:r>
                        <a:t>false / true</a:t>
                      </a:r>
                    </a:p>
                  </a:txBody>
                  <a:tcPr/>
                </a:tc>
                <a:tc>
                  <a:txBody>
                    <a:bodyPr/>
                    <a:lstStyle/>
                    <a:p>
                      <a:pPr>
                        <a:defRPr sz="1400" b="0">
                          <a:solidFill>
                            <a:srgbClr val="1F1F1F"/>
                          </a:solidFill>
                          <a:latin typeface="Calibri"/>
                        </a:defRPr>
                      </a:pPr>
                      <a:r>
                        <a:t>false / true</a:t>
                      </a:r>
                    </a:p>
                  </a:txBody>
                  <a:tcPr/>
                </a:tc>
              </a:tr>
              <a:tr h="393895">
                <a:tc>
                  <a:txBody>
                    <a:bodyPr/>
                    <a:lstStyle/>
                    <a:p>
                      <a:pPr>
                        <a:defRPr sz="1400" b="0">
                          <a:solidFill>
                            <a:srgbClr val="1F1F1F"/>
                          </a:solidFill>
                          <a:latin typeface="Calibri"/>
                        </a:defRPr>
                      </a:pPr>
                      <a:r>
                        <a:t>if true then 1 else LOOP</a:t>
                      </a:r>
                    </a:p>
                  </a:txBody>
                  <a:tcPr/>
                </a:tc>
                <a:tc>
                  <a:txBody>
                    <a:bodyPr/>
                    <a:lstStyle/>
                    <a:p>
                      <a:pPr>
                        <a:defRPr sz="1400" b="0">
                          <a:solidFill>
                            <a:srgbClr val="1F1F1F"/>
                          </a:solidFill>
                          <a:latin typeface="Calibri"/>
                        </a:defRPr>
                      </a:pPr>
                      <a:r>
                        <a:t>3</a:t>
                      </a:r>
                    </a:p>
                  </a:txBody>
                  <a:tcPr/>
                </a:tc>
                <a:tc>
                  <a:txBody>
                    <a:bodyPr/>
                    <a:lstStyle/>
                    <a:p>
                      <a:pPr>
                        <a:defRPr sz="1400" b="0">
                          <a:solidFill>
                            <a:srgbClr val="1F1F1F"/>
                          </a:solidFill>
                          <a:latin typeface="Calibri"/>
                        </a:defRPr>
                      </a:pPr>
                      <a:r>
                        <a:t>3</a:t>
                      </a:r>
                    </a:p>
                  </a:txBody>
                  <a:tcPr/>
                </a:tc>
                <a:tc>
                  <a:txBody>
                    <a:bodyPr/>
                    <a:lstStyle/>
                    <a:p>
                      <a:pPr>
                        <a:defRPr sz="1400" b="0">
                          <a:solidFill>
                            <a:srgbClr val="1F1F1F"/>
                          </a:solidFill>
                          <a:latin typeface="Calibri"/>
                        </a:defRPr>
                      </a:pPr>
                      <a:r>
                        <a:t>1</a:t>
                      </a:r>
                    </a:p>
                  </a:txBody>
                  <a:tcPr/>
                </a:tc>
                <a:tc>
                  <a:txBody>
                    <a:bodyPr/>
                    <a:lstStyle/>
                    <a:p>
                      <a:pPr>
                        <a:defRPr sz="1400" b="0">
                          <a:solidFill>
                            <a:srgbClr val="1F1F1F"/>
                          </a:solidFill>
                          <a:latin typeface="Calibri"/>
                        </a:defRPr>
                      </a:pPr>
                      <a:r>
                        <a:t>1</a:t>
                      </a:r>
                    </a:p>
                  </a:txBody>
                  <a:tcPr/>
                </a:tc>
              </a:tr>
              <a:tr h="393895">
                <a:tc>
                  <a:txBody>
                    <a:bodyPr/>
                    <a:lstStyle/>
                    <a:p>
                      <a:pPr>
                        <a:defRPr sz="1400" b="0">
                          <a:solidFill>
                            <a:srgbClr val="1F1F1F"/>
                          </a:solidFill>
                          <a:latin typeface="Calibri"/>
                        </a:defRPr>
                      </a:pPr>
                      <a:r>
                        <a:t>(lam x. 0) LOOP</a:t>
                      </a:r>
                    </a:p>
                  </a:txBody>
                  <a:tcPr/>
                </a:tc>
                <a:tc>
                  <a:txBody>
                    <a:bodyPr/>
                    <a:lstStyle/>
                    <a:p>
                      <a:pPr>
                        <a:defRPr sz="1400" b="0">
                          <a:solidFill>
                            <a:srgbClr val="1F1F1F"/>
                          </a:solidFill>
                          <a:latin typeface="Calibri"/>
                        </a:defRPr>
                      </a:pPr>
                      <a:r>
                        <a:t>200</a:t>
                      </a:r>
                    </a:p>
                  </a:txBody>
                  <a:tcPr/>
                </a:tc>
                <a:tc>
                  <a:txBody>
                    <a:bodyPr/>
                    <a:lstStyle/>
                    <a:p>
                      <a:pPr>
                        <a:defRPr sz="1400" b="0">
                          <a:solidFill>
                            <a:srgbClr val="1F1F1F"/>
                          </a:solidFill>
                          <a:latin typeface="Calibri"/>
                        </a:defRPr>
                      </a:pPr>
                      <a:r>
                        <a:t>—</a:t>
                      </a:r>
                    </a:p>
                  </a:txBody>
                  <a:tcPr/>
                </a:tc>
                <a:tc>
                  <a:txBody>
                    <a:bodyPr/>
                    <a:lstStyle/>
                    <a:p>
                      <a:pPr>
                        <a:defRPr sz="1400" b="0">
                          <a:solidFill>
                            <a:srgbClr val="1F1F1F"/>
                          </a:solidFill>
                          <a:latin typeface="Calibri"/>
                        </a:defRPr>
                      </a:pPr>
                      <a:r>
                        <a:t>exhausted</a:t>
                      </a:r>
                    </a:p>
                  </a:txBody>
                  <a:tcPr/>
                </a:tc>
                <a:tc>
                  <a:txBody>
                    <a:bodyPr/>
                    <a:lstStyle/>
                    <a:p>
                      <a:pPr>
                        <a:defRPr sz="1400" b="0">
                          <a:solidFill>
                            <a:srgbClr val="1F1F1F"/>
                          </a:solidFill>
                          <a:latin typeface="Calibri"/>
                        </a:defRPr>
                      </a:pPr>
                      <a:r>
                        <a:t>exhausted</a:t>
                      </a:r>
                    </a:p>
                  </a:txBody>
                  <a:tcPr/>
                </a:tc>
              </a:tr>
              <a:tr h="393895">
                <a:tc>
                  <a:txBody>
                    <a:bodyPr/>
                    <a:lstStyle/>
                    <a:p>
                      <a:pPr>
                        <a:defRPr sz="1400" b="0">
                          <a:solidFill>
                            <a:srgbClr val="1F1F1F"/>
                          </a:solidFill>
                          <a:latin typeface="Calibri"/>
                        </a:defRPr>
                      </a:pPr>
                      <a:r>
                        <a:t>factorial 4</a:t>
                      </a:r>
                    </a:p>
                  </a:txBody>
                  <a:tcPr/>
                </a:tc>
                <a:tc>
                  <a:txBody>
                    <a:bodyPr/>
                    <a:lstStyle/>
                    <a:p>
                      <a:pPr>
                        <a:defRPr sz="1400" b="0">
                          <a:solidFill>
                            <a:srgbClr val="1F1F1F"/>
                          </a:solidFill>
                          <a:latin typeface="Calibri"/>
                        </a:defRPr>
                      </a:pPr>
                      <a:r>
                        <a:t>471</a:t>
                      </a:r>
                    </a:p>
                  </a:txBody>
                  <a:tcPr/>
                </a:tc>
                <a:tc>
                  <a:txBody>
                    <a:bodyPr/>
                    <a:lstStyle/>
                    <a:p>
                      <a:pPr>
                        <a:defRPr sz="1400" b="0">
                          <a:solidFill>
                            <a:srgbClr val="1F1F1F"/>
                          </a:solidFill>
                          <a:latin typeface="Calibri"/>
                        </a:defRPr>
                      </a:pPr>
                      <a:r>
                        <a:t>333</a:t>
                      </a:r>
                    </a:p>
                  </a:txBody>
                  <a:tcPr/>
                </a:tc>
                <a:tc>
                  <a:txBody>
                    <a:bodyPr/>
                    <a:lstStyle/>
                    <a:p>
                      <a:pPr>
                        <a:defRPr sz="1400" b="0">
                          <a:solidFill>
                            <a:srgbClr val="1F1F1F"/>
                          </a:solidFill>
                          <a:latin typeface="Calibri"/>
                        </a:defRPr>
                      </a:pPr>
                      <a:r>
                        <a:t>24</a:t>
                      </a:r>
                    </a:p>
                  </a:txBody>
                  <a:tcPr/>
                </a:tc>
                <a:tc>
                  <a:txBody>
                    <a:bodyPr/>
                    <a:lstStyle/>
                    <a:p>
                      <a:pPr>
                        <a:defRPr sz="1400" b="0">
                          <a:solidFill>
                            <a:srgbClr val="1F1F1F"/>
                          </a:solidFill>
                          <a:latin typeface="Calibri"/>
                        </a:defRPr>
                      </a:pPr>
                      <a:r>
                        <a:t>24</a:t>
                      </a:r>
                    </a:p>
                  </a:txBody>
                  <a:tcPr/>
                </a:tc>
              </a:tr>
              <a:tr h="393895">
                <a:tc>
                  <a:txBody>
                    <a:bodyPr/>
                    <a:lstStyle/>
                    <a:p>
                      <a:pPr>
                        <a:defRPr sz="1400" b="0">
                          <a:solidFill>
                            <a:srgbClr val="1F1F1F"/>
                          </a:solidFill>
                          <a:latin typeface="Calibri"/>
                        </a:defRPr>
                      </a:pPr>
                      <a:r>
                        <a:t>fibonacci 5</a:t>
                      </a:r>
                    </a:p>
                  </a:txBody>
                  <a:tcPr/>
                </a:tc>
                <a:tc>
                  <a:txBody>
                    <a:bodyPr/>
                    <a:lstStyle/>
                    <a:p>
                      <a:pPr>
                        <a:defRPr sz="1400" b="0">
                          <a:solidFill>
                            <a:srgbClr val="1F1F1F"/>
                          </a:solidFill>
                          <a:latin typeface="Calibri"/>
                        </a:defRPr>
                      </a:pPr>
                      <a:r>
                        <a:t>3080</a:t>
                      </a:r>
                    </a:p>
                  </a:txBody>
                  <a:tcPr/>
                </a:tc>
                <a:tc>
                  <a:txBody>
                    <a:bodyPr/>
                    <a:lstStyle/>
                    <a:p>
                      <a:pPr>
                        <a:defRPr sz="1400" b="0">
                          <a:solidFill>
                            <a:srgbClr val="1F1F1F"/>
                          </a:solidFill>
                          <a:latin typeface="Calibri"/>
                        </a:defRPr>
                      </a:pPr>
                      <a:r>
                        <a:t>35</a:t>
                      </a:r>
                    </a:p>
                  </a:txBody>
                  <a:tcPr/>
                </a:tc>
                <a:tc>
                  <a:txBody>
                    <a:bodyPr/>
                    <a:lstStyle/>
                    <a:p>
                      <a:pPr>
                        <a:defRPr sz="1400" b="0">
                          <a:solidFill>
                            <a:srgbClr val="1F1F1F"/>
                          </a:solidFill>
                          <a:latin typeface="Calibri"/>
                        </a:defRPr>
                      </a:pPr>
                      <a:r>
                        <a:t>5</a:t>
                      </a:r>
                    </a:p>
                  </a:txBody>
                  <a:tcPr/>
                </a:tc>
                <a:tc>
                  <a:txBody>
                    <a:bodyPr/>
                    <a:lstStyle/>
                    <a:p>
                      <a:pPr>
                        <a:defRPr sz="1400" b="0">
                          <a:solidFill>
                            <a:srgbClr val="1F1F1F"/>
                          </a:solidFill>
                          <a:latin typeface="Calibri"/>
                        </a:defRPr>
                      </a:pPr>
                      <a:r>
                        <a:t>5</a:t>
                      </a:r>
                    </a:p>
                  </a:txBody>
                  <a:tcPr/>
                </a:tc>
              </a:tr>
              <a:tr h="393900">
                <a:tc>
                  <a:txBody>
                    <a:bodyPr/>
                    <a:lstStyle/>
                    <a:p>
                      <a:pPr>
                        <a:defRPr sz="1400" b="0">
                          <a:solidFill>
                            <a:srgbClr val="1F1F1F"/>
                          </a:solidFill>
                          <a:latin typeface="Calibri"/>
                        </a:defRPr>
                      </a:pPr>
                      <a:r>
                        <a:t>LOOP</a:t>
                      </a:r>
                    </a:p>
                  </a:txBody>
                  <a:tcPr/>
                </a:tc>
                <a:tc>
                  <a:txBody>
                    <a:bodyPr/>
                    <a:lstStyle/>
                    <a:p>
                      <a:pPr>
                        <a:defRPr sz="1400" b="0">
                          <a:solidFill>
                            <a:srgbClr val="1F1F1F"/>
                          </a:solidFill>
                          <a:latin typeface="Calibri"/>
                        </a:defRPr>
                      </a:pPr>
                      <a:r>
                        <a:t>200</a:t>
                      </a:r>
                    </a:p>
                  </a:txBody>
                  <a:tcPr/>
                </a:tc>
                <a:tc>
                  <a:txBody>
                    <a:bodyPr/>
                    <a:lstStyle/>
                    <a:p>
                      <a:pPr>
                        <a:defRPr sz="1400" b="0">
                          <a:solidFill>
                            <a:srgbClr val="1F1F1F"/>
                          </a:solidFill>
                          <a:latin typeface="Calibri"/>
                        </a:defRPr>
                      </a:pPr>
                      <a:r>
                        <a:t>—</a:t>
                      </a:r>
                    </a:p>
                  </a:txBody>
                  <a:tcPr/>
                </a:tc>
                <a:tc>
                  <a:txBody>
                    <a:bodyPr/>
                    <a:lstStyle/>
                    <a:p>
                      <a:pPr>
                        <a:defRPr sz="1400" b="0">
                          <a:solidFill>
                            <a:srgbClr val="1F1F1F"/>
                          </a:solidFill>
                          <a:latin typeface="Calibri"/>
                        </a:defRPr>
                      </a:pPr>
                      <a:r>
                        <a:t>exhausted</a:t>
                      </a:r>
                    </a:p>
                  </a:txBody>
                  <a:tcPr/>
                </a:tc>
                <a:tc>
                  <a:txBody>
                    <a:bodyPr/>
                    <a:lstStyle/>
                    <a:p>
                      <a:pPr>
                        <a:defRPr sz="1400" b="0">
                          <a:solidFill>
                            <a:srgbClr val="1F1F1F"/>
                          </a:solidFill>
                          <a:latin typeface="Calibri"/>
                        </a:defRPr>
                      </a:pPr>
                      <a:r>
                        <a:t>exhausted</a:t>
                      </a:r>
                    </a:p>
                  </a:txBody>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1155680" cy="731520"/>
          </a:xfrm>
          <a:prstGeom prst="rect">
            <a:avLst/>
          </a:prstGeom>
          <a:noFill/>
        </p:spPr>
        <p:txBody>
          <a:bodyPr wrap="none">
            <a:spAutoFit/>
          </a:bodyPr>
          <a:lstStyle/>
          <a:p>
            <a:pPr>
              <a:defRPr sz="3200" b="1">
                <a:solidFill>
                  <a:srgbClr val="1B3A4B"/>
                </a:solidFill>
                <a:latin typeface="Calibri"/>
              </a:defRPr>
            </a:pPr>
            <a:r>
              <a:t>Testing</a:t>
            </a:r>
          </a:p>
        </p:txBody>
      </p:sp>
      <p:sp>
        <p:nvSpPr>
          <p:cNvPr id="4" name="TextBox 3"/>
          <p:cNvSpPr txBox="1"/>
          <p:nvPr/>
        </p:nvSpPr>
        <p:spPr>
          <a:xfrm>
            <a:off x="502920" y="6419088"/>
            <a:ext cx="11155680" cy="274320"/>
          </a:xfrm>
          <a:prstGeom prst="rect">
            <a:avLst/>
          </a:prstGeom>
          <a:noFill/>
        </p:spPr>
        <p:txBody>
          <a:bodyPr wrap="none">
            <a:spAutoFit/>
          </a:bodyPr>
          <a:lstStyle/>
          <a:p>
            <a:pPr>
              <a:defRPr sz="1200">
                <a:solidFill>
                  <a:srgbClr val="4A5A64"/>
                </a:solidFill>
                <a:latin typeface="Calibri"/>
              </a:defRPr>
            </a:pPr>
            <a:r>
              <a:t>CS413 Midterm 1  ·  Anay Sharma  ·  13</a:t>
            </a:r>
          </a:p>
        </p:txBody>
      </p:sp>
      <p:sp>
        <p:nvSpPr>
          <p:cNvPr id="5" name="TextBox 4"/>
          <p:cNvSpPr txBox="1"/>
          <p:nvPr/>
        </p:nvSpPr>
        <p:spPr>
          <a:xfrm>
            <a:off x="548640" y="1188720"/>
            <a:ext cx="11064240" cy="5029200"/>
          </a:xfrm>
          <a:prstGeom prst="rect">
            <a:avLst/>
          </a:prstGeom>
          <a:noFill/>
        </p:spPr>
        <p:txBody>
          <a:bodyPr wrap="square">
            <a:spAutoFit/>
          </a:bodyPr>
          <a:lstStyle/>
          <a:p>
            <a:pPr>
              <a:spcAft>
                <a:spcPts val="800"/>
              </a:spcAft>
              <a:defRPr sz="2200">
                <a:solidFill>
                  <a:srgbClr val="1F1F1F"/>
                </a:solidFill>
                <a:latin typeface="Calibri"/>
              </a:defRPr>
            </a:pPr>
            <a:r>
              <a:t>40 unittest tests, grouped by the seven testing items in the brief</a:t>
            </a:r>
          </a:p>
          <a:p>
            <a:pPr>
              <a:spcAft>
                <a:spcPts val="800"/>
              </a:spcAft>
              <a:defRPr sz="2200">
                <a:solidFill>
                  <a:srgbClr val="1F1F1F"/>
                </a:solidFill>
                <a:latin typeface="Calibri"/>
              </a:defRPr>
            </a:pPr>
            <a:r>
              <a:t>Capture and shadowing, budget boundaries, left-to-right traces</a:t>
            </a:r>
          </a:p>
          <a:p>
            <a:pPr>
              <a:spcAft>
                <a:spcPts val="800"/>
              </a:spcAft>
              <a:defRPr sz="2200">
                <a:solidFill>
                  <a:srgbClr val="1F1F1F"/>
                </a:solidFill>
                <a:latin typeface="Calibri"/>
              </a:defRPr>
            </a:pPr>
            <a:r>
              <a:t>Every operator with written-out answers, including 0 - 1 and equal operands</a:t>
            </a:r>
          </a:p>
          <a:p>
            <a:pPr>
              <a:spcAft>
                <a:spcPts val="800"/>
              </a:spcAft>
              <a:defRPr sz="2200">
                <a:solidFill>
                  <a:srgbClr val="1F1F1F"/>
                </a:solidFill>
                <a:latin typeface="Calibri"/>
              </a:defRPr>
            </a:pPr>
            <a:r>
              <a:t>Fix binders named like Z's own names, and source names like s, z, k_1</a:t>
            </a:r>
          </a:p>
          <a:p>
            <a:pPr>
              <a:spcAft>
                <a:spcPts val="800"/>
              </a:spcAft>
              <a:defRPr sz="2200">
                <a:solidFill>
                  <a:srgbClr val="1F1F1F"/>
                </a:solidFill>
                <a:latin typeface="Calibri"/>
              </a:defRPr>
            </a:pPr>
            <a:r>
              <a:t>Skipped and forced divergence; rejection in dead code</a:t>
            </a:r>
          </a:p>
          <a:p>
            <a:pPr>
              <a:spcAft>
                <a:spcPts val="800"/>
              </a:spcAft>
              <a:defRPr sz="2200">
                <a:solidFill>
                  <a:srgbClr val="1F1F1F"/>
                </a:solidFill>
                <a:latin typeface="Calibri"/>
              </a:defRPr>
            </a:pPr>
            <a:r>
              <a:t>Compiler and evaluator each stubbed out to prove they stay separate</a:t>
            </a:r>
          </a:p>
          <a:p>
            <a:pPr>
              <a:spcAft>
                <a:spcPts val="800"/>
              </a:spcAft>
              <a:defRPr sz="2200">
                <a:solidFill>
                  <a:srgbClr val="1F1F1F"/>
                </a:solidFill>
                <a:latin typeface="Calibri"/>
              </a:defRPr>
            </a:pPr>
            <a:r>
              <a:t>Evidence, not proof: exhaustion at 200 does not prove LOOP diverges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1155680" cy="731520"/>
          </a:xfrm>
          <a:prstGeom prst="rect">
            <a:avLst/>
          </a:prstGeom>
          <a:noFill/>
        </p:spPr>
        <p:txBody>
          <a:bodyPr wrap="none">
            <a:spAutoFit/>
          </a:bodyPr>
          <a:lstStyle/>
          <a:p>
            <a:pPr>
              <a:defRPr sz="3200" b="1">
                <a:solidFill>
                  <a:srgbClr val="1B3A4B"/>
                </a:solidFill>
                <a:latin typeface="Calibri"/>
              </a:defRPr>
            </a:pPr>
            <a:r>
              <a:t>Two design decisions</a:t>
            </a:r>
          </a:p>
        </p:txBody>
      </p:sp>
      <p:sp>
        <p:nvSpPr>
          <p:cNvPr id="4" name="TextBox 3"/>
          <p:cNvSpPr txBox="1"/>
          <p:nvPr/>
        </p:nvSpPr>
        <p:spPr>
          <a:xfrm>
            <a:off x="502920" y="6419088"/>
            <a:ext cx="11155680" cy="274320"/>
          </a:xfrm>
          <a:prstGeom prst="rect">
            <a:avLst/>
          </a:prstGeom>
          <a:noFill/>
        </p:spPr>
        <p:txBody>
          <a:bodyPr wrap="none">
            <a:spAutoFit/>
          </a:bodyPr>
          <a:lstStyle/>
          <a:p>
            <a:pPr>
              <a:defRPr sz="1200">
                <a:solidFill>
                  <a:srgbClr val="4A5A64"/>
                </a:solidFill>
                <a:latin typeface="Calibri"/>
              </a:defRPr>
            </a:pPr>
            <a:r>
              <a:t>CS413 Midterm 1  ·  Anay Sharma  ·  14</a:t>
            </a:r>
          </a:p>
        </p:txBody>
      </p:sp>
      <p:sp>
        <p:nvSpPr>
          <p:cNvPr id="5" name="TextBox 4"/>
          <p:cNvSpPr txBox="1"/>
          <p:nvPr/>
        </p:nvSpPr>
        <p:spPr>
          <a:xfrm>
            <a:off x="548640" y="1188720"/>
            <a:ext cx="11064240" cy="5029200"/>
          </a:xfrm>
          <a:prstGeom prst="rect">
            <a:avLst/>
          </a:prstGeom>
          <a:noFill/>
        </p:spPr>
        <p:txBody>
          <a:bodyPr wrap="square">
            <a:spAutoFit/>
          </a:bodyPr>
          <a:lstStyle/>
          <a:p>
            <a:pPr>
              <a:spcAft>
                <a:spcPts val="800"/>
              </a:spcAft>
              <a:defRPr sz="2200">
                <a:solidFill>
                  <a:srgbClr val="1F1F1F"/>
                </a:solidFill>
                <a:latin typeface="Calibri"/>
              </a:defRPr>
            </a:pPr>
            <a:r>
              <a:t>Decision 1. One visitor evaluates both languages; the compiler cannot call it</a:t>
            </a:r>
          </a:p>
          <a:p>
            <a:pPr lvl="1">
              <a:spcAft>
                <a:spcPts val="800"/>
              </a:spcAft>
              <a:defRPr sz="2000">
                <a:solidFill>
                  <a:srgbClr val="4A5A64"/>
                </a:solidFill>
                <a:latin typeface="Calibri"/>
              </a:defRPr>
            </a:pPr>
            <a:r>
              <a:t>Gain: one application rule, so source and target cannot drift apart</a:t>
            </a:r>
          </a:p>
          <a:p>
            <a:pPr lvl="1">
              <a:spcAft>
                <a:spcPts val="800"/>
              </a:spcAft>
              <a:defRPr sz="2000">
                <a:solidFill>
                  <a:srgbClr val="4A5A64"/>
                </a:solidFill>
                <a:latin typeface="Calibri"/>
              </a:defRPr>
            </a:pPr>
            <a:r>
              <a:t>Cost: two substitution functions, and arg aliases on the target nodes</a:t>
            </a:r>
          </a:p>
          <a:p>
            <a:pPr>
              <a:spcAft>
                <a:spcPts val="800"/>
              </a:spcAft>
              <a:defRPr sz="2200">
                <a:solidFill>
                  <a:srgbClr val="1F1F1F"/>
                </a:solidFill>
                <a:latin typeface="Calibri"/>
              </a:defRPr>
            </a:pPr>
            <a:r>
              <a:t>Decision 2. Decoding is a second reduction, not a reducer that knows numerals</a:t>
            </a:r>
          </a:p>
          <a:p>
            <a:pPr lvl="1">
              <a:spcAft>
                <a:spcPts val="800"/>
              </a:spcAft>
              <a:defRPr sz="2000">
                <a:solidFill>
                  <a:srgbClr val="4A5A64"/>
                </a:solidFill>
                <a:latin typeface="Calibri"/>
              </a:defRPr>
            </a:pPr>
            <a:r>
              <a:t>Gain: the reducer stays a pure beta engine</a:t>
            </a:r>
          </a:p>
          <a:p>
            <a:pPr lvl="1">
              <a:spcAft>
                <a:spcPts val="800"/>
              </a:spcAft>
              <a:defRPr sz="2000">
                <a:solidFill>
                  <a:srgbClr val="4A5A64"/>
                </a:solidFill>
                <a:latin typeface="Calibri"/>
              </a:defRPr>
            </a:pPr>
            <a:r>
              <a:t>Cost: two step counts, because a lambda can still hide work</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1155680" cy="731520"/>
          </a:xfrm>
          <a:prstGeom prst="rect">
            <a:avLst/>
          </a:prstGeom>
          <a:noFill/>
        </p:spPr>
        <p:txBody>
          <a:bodyPr wrap="none">
            <a:spAutoFit/>
          </a:bodyPr>
          <a:lstStyle/>
          <a:p>
            <a:pPr>
              <a:defRPr sz="3200" b="1">
                <a:solidFill>
                  <a:srgbClr val="1B3A4B"/>
                </a:solidFill>
                <a:latin typeface="Calibri"/>
              </a:defRPr>
            </a:pPr>
            <a:r>
              <a:t>Limits</a:t>
            </a:r>
          </a:p>
        </p:txBody>
      </p:sp>
      <p:sp>
        <p:nvSpPr>
          <p:cNvPr id="4" name="TextBox 3"/>
          <p:cNvSpPr txBox="1"/>
          <p:nvPr/>
        </p:nvSpPr>
        <p:spPr>
          <a:xfrm>
            <a:off x="502920" y="6419088"/>
            <a:ext cx="11155680" cy="274320"/>
          </a:xfrm>
          <a:prstGeom prst="rect">
            <a:avLst/>
          </a:prstGeom>
          <a:noFill/>
        </p:spPr>
        <p:txBody>
          <a:bodyPr wrap="none">
            <a:spAutoFit/>
          </a:bodyPr>
          <a:lstStyle/>
          <a:p>
            <a:pPr>
              <a:defRPr sz="1200">
                <a:solidFill>
                  <a:srgbClr val="4A5A64"/>
                </a:solidFill>
                <a:latin typeface="Calibri"/>
              </a:defRPr>
            </a:pPr>
            <a:r>
              <a:t>CS413 Midterm 1  ·  Anay Sharma  ·  15</a:t>
            </a:r>
          </a:p>
        </p:txBody>
      </p:sp>
      <p:sp>
        <p:nvSpPr>
          <p:cNvPr id="5" name="TextBox 4"/>
          <p:cNvSpPr txBox="1"/>
          <p:nvPr/>
        </p:nvSpPr>
        <p:spPr>
          <a:xfrm>
            <a:off x="548640" y="1188720"/>
            <a:ext cx="11064240" cy="5029200"/>
          </a:xfrm>
          <a:prstGeom prst="rect">
            <a:avLst/>
          </a:prstGeom>
          <a:noFill/>
        </p:spPr>
        <p:txBody>
          <a:bodyPr wrap="square">
            <a:spAutoFit/>
          </a:bodyPr>
          <a:lstStyle/>
          <a:p>
            <a:pPr>
              <a:spcAft>
                <a:spcPts val="800"/>
              </a:spcAft>
              <a:defRPr sz="2200">
                <a:solidFill>
                  <a:srgbClr val="1F1F1F"/>
                </a:solidFill>
                <a:latin typeface="Calibri"/>
              </a:defRPr>
            </a:pPr>
            <a:r>
              <a:t>No parser, no type checker, no web page</a:t>
            </a:r>
          </a:p>
          <a:p>
            <a:pPr>
              <a:spcAft>
                <a:spcPts val="800"/>
              </a:spcAft>
              <a:defRPr sz="2200">
                <a:solidFill>
                  <a:srgbClr val="1F1F1F"/>
                </a:solidFill>
                <a:latin typeface="Calibri"/>
              </a:defRPr>
            </a:pPr>
            <a:r>
              <a:t>Naturals, booleans, and finite pairs only</a:t>
            </a:r>
          </a:p>
          <a:p>
            <a:pPr>
              <a:spcAft>
                <a:spcPts val="800"/>
              </a:spcAft>
              <a:defRPr sz="2200">
                <a:solidFill>
                  <a:srgbClr val="1F1F1F"/>
                </a:solidFill>
                <a:latin typeface="Calibri"/>
              </a:defRPr>
            </a:pPr>
            <a:r>
              <a:t>Negative literals and unknown operators rejected everywhere; other type errors are not checked</a:t>
            </a:r>
          </a:p>
          <a:p>
            <a:pPr>
              <a:spcAft>
                <a:spcPts val="800"/>
              </a:spcAft>
              <a:defRPr sz="2200">
                <a:solidFill>
                  <a:srgbClr val="1F1F1F"/>
                </a:solidFill>
                <a:latin typeface="Calibri"/>
              </a:defRPr>
            </a:pPr>
            <a:r>
              <a:t>Target execution needs closed terms; compilation accepts open ones</a:t>
            </a:r>
          </a:p>
          <a:p>
            <a:pPr>
              <a:spcAft>
                <a:spcPts val="800"/>
              </a:spcAft>
              <a:defRPr sz="2200">
                <a:solidFill>
                  <a:srgbClr val="1F1F1F"/>
                </a:solidFill>
                <a:latin typeface="Calibri"/>
              </a:defRPr>
            </a:pPr>
            <a:r>
              <a:t>Substitution-based reduction is slow on big numerals; very deep terms can hit the Python stack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